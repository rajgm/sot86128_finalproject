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presenting Climate Diplomacy — a real-time multiplayer simulation game that turns environmental politics theory into interactive mechanics. Every model you've studied in this module is a playable system in this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Climate change is the ultimate collective action problem. Each country's emissions affect everyone, but cutting emissions is costly and benefits are shared. No world government exists to enforce cooperation, and leaders face domestic political constraints. This is exactly what our game reproduces.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Climate Diplomacy is a real-time multiplayer game with 8 country blocs on a hex map. What makes it academic: every mechanic maps to a published model from this module's reading list. You can't win without understanding the theory. Let me walk you through each model and how it becomes a game mechanic.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models, here's how the game maps to the module's 5 intended learning outcomes. Each ILO is directly addressed by a game mechanic. This isn't a generic game — it's built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Hardin's tragedy. 8 countries share one atmosphere. Every fossil plant any player builds adds CO2 to a global temperature variable. When temperature crosses 2 degrees, ALL countries suffer — farm yields drop, happiness falls. But cutting YOUR emissions costs YOU money while benefiting everyone equally. This creates the free-rider problem Olson described. No authority enforces cooperation — players must negotiate.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2 adds carbon pricing from Nordhaus's DICE model — the work that won the 2018 Nobel. Each country sets a carbon tax rate. Critically, the tax does NOT magically remove CO2. It collects revenue proportional to your emissions. To actually reduce emissions, you must physically demolish fossil plants and build green alternatives. This reproduces Nordhaus's key insight: carbon pricing shifts investment incentives, it doesn't clean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collect carbon tax revenue, Goulder's double dividend hypothesis asks: how do you spend it? We give players 3 options, each grounded in literature. Citizen dividend is popular but least efficient. Green subsidy is most efficient per Freire-Gonzalez's meta-analysis of 69 CGE simulations. Climate finance models the Cancun pledge. The choice creates real strategic dilemmas — OPEC with 90% brown faction faces economic suicide from any meaningful tax, while EU at 70% green can tax heavily at minimal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Putnam's two-level games theory says international negotiation is constrained by domestic politics. We operationalize this through factions. Each country has brown and green factions whose ratios come from real employment data — Mezzanotti and Starkman's CEPR paper shows green/brown establishment ratios predict climate voting. OPEC at 90% brown means any carbon tax devastates domestic happiness. India at 60% green wants climate action but can't afford it economically. Players experience Putnam's dual constraint firsthand.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5 combines Rockstrom's planetary boundaries with Raworth's doughnut economics. We monitor 5 boundary conditions each cycle. When a boundary is breached, a summit resolution auto-triggers. This mirrors how scientific consensus forces the international agenda. Compliance is optional but tracked — non-compliant countries lose relations with compliant ones, reproducing naming-and-shaming dynamics in real environmental regimes. Richardson et al.'s 2023 update showed 6 of 9 boundaries are already crossed.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dashboard implements Liefferink's gap approach — directly from the module reading list through Holzinger and Sommerer 2012. Six metrics are normalized to 0-1 where 0 equals pioneer. The pioneer IS the benchmark and shifts dynamically as players act. This composite gap score also determines victory. The three countries closest to pioneer across ALL dimensions win. Money alone can't win — you need balanced, multi-dimensional environmental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polycentric governance is embedded in the game architecture: players cooperate through 4 simultaneous channels — trade, transit, summits, and climate finance. No single channel suffices. Aklin and Mildenberger's distributive conflict framework creates the friction: North-South divide means India and Africa contribute least but suffer most, fossil exporters face existential threats from green transition, and domestic factions create winners and losers within each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country blocs are initialized with asymmetric profiles from real data — IEA 2024, World Bank, IRENA. Starting faction weights are calibrated to actual green/brown employment ratios. Population creates a structural divide: China and India drain resources fast and must invest in food production before green transition, while the USA can coast for 30 cycles. Food as geopolitical leverage and tech as development currency create trade dependencies that constrain negotiation positions — reproducing the political economy dynamics that make environmental politics complex.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Per-capita consumption creates a structural divide. China with population 90 drains 27 food per cycle — without farms, it runs out in 9 cycles. Africa runs out in 6. But the USA with population 33 can coast for 30+ cycles. This means developing countries must invest in basic sustenance BEFORE they can afford green transition. This is the climate justice argument emerging naturally from game mechanics, not from scripted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tech overview. React 19 with TypeScript for the frontend, Firebase Realtime Database for multiplayer sync with built-in presence detection. The 14-step deterministic cycle engine ensures identical state regardless of network latency. Bot AI uses 4 profiles mapped to country archetypes so even games with few human players reproduce realistic actor constellations.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switch to a live demo. I'll walk through: creating a game, the hex map with building placement, diplomacy and trade panels, advancing a cycle to show the engine working, and the comparison dashboard showing Liefferink's pioneer/laggard rankings in real-time.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game doesn't simplify environmental politics. A player controlling OPEC cannot avoid the fossil trap. A player controlling India cannot avoid the climate justice argument. These aren't scripted narratives — they emerge from asymmetric starting conditions and the mechanics connecting domestic politics to international outcomes. Playing well requires understanding the theories, and understanding the theories improves gameplay.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25"/>
        </a:solidFill>
      </p:bgPr>
    </p:bg>
    <p:spTree>
      <p:nvGrpSpPr>
        <p:cNvPr id="1" name=""/>
        <p:cNvGrpSpPr/>
        <p:nvPr/>
      </p:nvGrpSpPr>
      <p:grpSpPr>
        <a:xfrm>
          <a:off x="0" y="0"/>
          <a:ext cx="0" cy="0"/>
          <a:chOff x="0" y="0"/>
          <a:chExt cx="0" cy="0"/>
        </a:xfrm>
      </p:grpSpPr>
      <p:sp>
        <p:nvSpPr>
          <p:cNvPr id="2" name="Text 0"/>
          <p:cNvSpPr/>
          <p:nvPr/>
        </p:nvSpPr>
        <p:spPr>
          <a:xfrm>
            <a:off x="731520" y="914400"/>
            <a:ext cx="7680960" cy="914400"/>
          </a:xfrm>
          <a:prstGeom prst="rect">
            <a:avLst/>
          </a:prstGeom>
          <a:noFill/>
          <a:ln/>
        </p:spPr>
        <p:txBody>
          <a:bodyPr wrap="square" lIns="0" tIns="0" rIns="0" bIns="0" rtlCol="0" anchor="ctr"/>
          <a:lstStyle/>
          <a:p>
            <a:pPr indent="0" marL="0">
              <a:buNone/>
            </a:pPr>
            <a:r>
              <a:rPr lang="en-US" sz="4800" b="1" spc="400" kern="0" dirty="0">
                <a:solidFill>
                  <a:srgbClr val="FFFFFF"/>
                </a:solidFill>
                <a:latin typeface="Calibri" pitchFamily="34" charset="0"/>
                <a:ea typeface="Calibri" pitchFamily="34" charset="-122"/>
                <a:cs typeface="Calibri" pitchFamily="34" charset="-120"/>
              </a:rPr>
              <a:t>CLIMATE DIPLOMACY</a:t>
            </a:r>
            <a:endParaRPr lang="en-US" sz="4800" dirty="0"/>
          </a:p>
        </p:txBody>
      </p:sp>
      <p:sp>
        <p:nvSpPr>
          <p:cNvPr id="3" name="Text 1"/>
          <p:cNvSpPr/>
          <p:nvPr/>
        </p:nvSpPr>
        <p:spPr>
          <a:xfrm>
            <a:off x="731520" y="1920240"/>
            <a:ext cx="7680960" cy="822960"/>
          </a:xfrm>
          <a:prstGeom prst="rect">
            <a:avLst/>
          </a:prstGeom>
          <a:noFill/>
          <a:ln/>
        </p:spPr>
        <p:txBody>
          <a:bodyPr wrap="square" lIns="0" tIns="0" rIns="0" bIns="0" rtlCol="0" anchor="ctr"/>
          <a:lstStyle/>
          <a:p>
            <a:pPr indent="0" marL="0">
              <a:buNone/>
            </a:pPr>
            <a:r>
              <a:rPr lang="en-US" sz="2000" dirty="0">
                <a:solidFill>
                  <a:srgbClr val="74C69D"/>
                </a:solidFill>
                <a:latin typeface="Calibri" pitchFamily="34" charset="0"/>
                <a:ea typeface="Calibri" pitchFamily="34" charset="-122"/>
                <a:cs typeface="Calibri" pitchFamily="34" charset="-120"/>
              </a:rPr>
              <a:t>A Multiplayer Simulation of Environmental Politics</a:t>
            </a:r>
            <a:endParaRPr lang="en-US" sz="2000" dirty="0"/>
          </a:p>
          <a:p>
            <a:pPr indent="0" marL="0">
              <a:buNone/>
            </a:pPr>
            <a:r>
              <a:rPr lang="en-US" sz="2000" dirty="0">
                <a:solidFill>
                  <a:srgbClr val="74C69D"/>
                </a:solidFill>
                <a:latin typeface="Calibri" pitchFamily="34" charset="0"/>
                <a:ea typeface="Calibri" pitchFamily="34" charset="-122"/>
                <a:cs typeface="Calibri" pitchFamily="34" charset="-120"/>
              </a:rPr>
              <a:t>in International Comparison</a:t>
            </a:r>
            <a:endParaRPr lang="en-US" sz="2000" dirty="0"/>
          </a:p>
        </p:txBody>
      </p:sp>
      <p:sp>
        <p:nvSpPr>
          <p:cNvPr id="4" name="Shape 2"/>
          <p:cNvSpPr/>
          <p:nvPr/>
        </p:nvSpPr>
        <p:spPr>
          <a:xfrm>
            <a:off x="731520" y="2926080"/>
            <a:ext cx="1828800" cy="36576"/>
          </a:xfrm>
          <a:prstGeom prst="rect">
            <a:avLst/>
          </a:prstGeom>
          <a:solidFill>
            <a:srgbClr val="40916C"/>
          </a:solidFill>
          <a:ln/>
        </p:spPr>
      </p:sp>
      <p:sp>
        <p:nvSpPr>
          <p:cNvPr id="5" name="Text 3"/>
          <p:cNvSpPr/>
          <p:nvPr/>
        </p:nvSpPr>
        <p:spPr>
          <a:xfrm>
            <a:off x="731520" y="3200400"/>
            <a:ext cx="7680960" cy="731520"/>
          </a:xfrm>
          <a:prstGeom prst="rect">
            <a:avLst/>
          </a:prstGeom>
          <a:noFill/>
          <a:ln/>
        </p:spPr>
        <p:txBody>
          <a:bodyPr wrap="square" lIns="0" tIns="0" rIns="0" bIns="0" rtlCol="0" anchor="ctr"/>
          <a:lstStyle/>
          <a:p>
            <a:pPr indent="0" marL="0">
              <a:buNone/>
            </a:pPr>
            <a:r>
              <a:rPr lang="en-US" sz="1400" dirty="0">
                <a:solidFill>
                  <a:srgbClr val="B0BEC5"/>
                </a:solidFill>
                <a:latin typeface="Calibri" pitchFamily="34" charset="0"/>
                <a:ea typeface="Calibri" pitchFamily="34" charset="-122"/>
                <a:cs typeface="Calibri" pitchFamily="34" charset="-120"/>
              </a:rPr>
              <a:t>POL23200 — Environmental Politics in International Comparison</a:t>
            </a:r>
            <a:endParaRPr lang="en-US" sz="1400" dirty="0"/>
          </a:p>
          <a:p>
            <a:pPr indent="0" marL="0">
              <a:buNone/>
            </a:pPr>
            <a:r>
              <a:rPr lang="en-US" sz="1400" dirty="0">
                <a:solidFill>
                  <a:srgbClr val="B0BEC5"/>
                </a:solidFill>
                <a:latin typeface="Calibri" pitchFamily="34" charset="0"/>
                <a:ea typeface="Calibri" pitchFamily="34" charset="-122"/>
                <a:cs typeface="Calibri" pitchFamily="34" charset="-120"/>
              </a:rPr>
              <a:t>Prof. Dr. Miranda Schreurs  |  TU Munich, Department of Governance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D25"/>
        </a:solidFill>
      </p:bgPr>
    </p:bg>
    <p:spTree>
      <p:nvGrpSpPr>
        <p:cNvPr id="1" name=""/>
        <p:cNvGrpSpPr/>
        <p:nvPr/>
      </p:nvGrpSpPr>
      <p:grpSpPr>
        <a:xfrm>
          <a:off x="0" y="0"/>
          <a:ext cx="0" cy="0"/>
          <a:chOff x="0" y="0"/>
          <a:chExt cx="0" cy="0"/>
        </a:xfrm>
      </p:grpSpPr>
      <p:sp>
        <p:nvSpPr>
          <p:cNvPr id="2" name="Text 0"/>
          <p:cNvSpPr/>
          <p:nvPr/>
        </p:nvSpPr>
        <p:spPr>
          <a:xfrm>
            <a:off x="731520" y="731520"/>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The Problem</a:t>
            </a:r>
            <a:endParaRPr lang="en-US" sz="4000" dirty="0"/>
          </a:p>
        </p:txBody>
      </p:sp>
      <p:sp>
        <p:nvSpPr>
          <p:cNvPr id="3" name="Text 1"/>
          <p:cNvSpPr/>
          <p:nvPr/>
        </p:nvSpPr>
        <p:spPr>
          <a:xfrm>
            <a:off x="731520" y="1645920"/>
            <a:ext cx="7680960" cy="457200"/>
          </a:xfrm>
          <a:prstGeom prst="rect">
            <a:avLst/>
          </a:prstGeom>
          <a:noFill/>
          <a:ln/>
        </p:spPr>
        <p:txBody>
          <a:bodyPr wrap="square" lIns="0" tIns="0" rIns="0" bIns="0" rtlCol="0" anchor="ctr"/>
          <a:lstStyle/>
          <a:p>
            <a:pPr indent="0" marL="0">
              <a:buNone/>
            </a:pPr>
            <a:r>
              <a:rPr lang="en-US" sz="1800" dirty="0">
                <a:solidFill>
                  <a:srgbClr val="74C69D"/>
                </a:solidFill>
                <a:latin typeface="Calibri" pitchFamily="34" charset="0"/>
                <a:ea typeface="Calibri" pitchFamily="34" charset="-122"/>
                <a:cs typeface="Calibri" pitchFamily="34" charset="-120"/>
              </a:rPr>
              <a:t>Why is climate cooperation so hard?</a:t>
            </a:r>
            <a:endParaRPr lang="en-US" sz="1800" dirty="0"/>
          </a:p>
        </p:txBody>
      </p:sp>
      <p:sp>
        <p:nvSpPr>
          <p:cNvPr id="4" name="Text 2"/>
          <p:cNvSpPr/>
          <p:nvPr/>
        </p:nvSpPr>
        <p:spPr>
          <a:xfrm>
            <a:off x="731520" y="2560320"/>
            <a:ext cx="7680960" cy="2286000"/>
          </a:xfrm>
          <a:prstGeom prst="rect">
            <a:avLst/>
          </a:prstGeom>
          <a:noFill/>
          <a:ln/>
        </p:spPr>
        <p:txBody>
          <a:bodyPr wrap="square" lIns="0" tIns="0" rIns="0" bIns="0" rtlCol="0" anchor="ctr"/>
          <a:lstStyle/>
          <a:p>
            <a:pPr indent="0" marL="0">
              <a:lnSpc>
                <a:spcPct val="160000"/>
              </a:lnSpc>
              <a:buNone/>
            </a:pPr>
            <a:r>
              <a:rPr lang="en-US" sz="1600" dirty="0">
                <a:solidFill>
                  <a:srgbClr val="FFFFFF"/>
                </a:solidFill>
              </a:rPr>
              <a:t>8 countries share one atmosphere
</a:t>
            </a:r>
            <a:endParaRPr lang="en-US" sz="1600" dirty="0"/>
          </a:p>
          <a:p>
            <a:pPr indent="0" marL="0">
              <a:lnSpc>
                <a:spcPct val="160000"/>
              </a:lnSpc>
              <a:buNone/>
            </a:pPr>
            <a:r>
              <a:rPr lang="en-US" sz="1600" dirty="0">
                <a:solidFill>
                  <a:srgbClr val="F4A261"/>
                </a:solidFill>
              </a:rPr>
              <a:t>Individual benefit ≠ collective benefit
</a:t>
            </a:r>
            <a:endParaRPr lang="en-US" sz="1600" dirty="0"/>
          </a:p>
          <a:p>
            <a:pPr indent="0" marL="0">
              <a:lnSpc>
                <a:spcPct val="160000"/>
              </a:lnSpc>
              <a:buNone/>
            </a:pPr>
            <a:r>
              <a:rPr lang="en-US" sz="1600" dirty="0">
                <a:solidFill>
                  <a:srgbClr val="FFFFFF"/>
                </a:solidFill>
              </a:rPr>
              <a:t>No global authority to enforce cooperation
</a:t>
            </a:r>
            <a:endParaRPr lang="en-US" sz="1600" dirty="0"/>
          </a:p>
          <a:p>
            <a:pPr indent="0" marL="0">
              <a:lnSpc>
                <a:spcPct val="160000"/>
              </a:lnSpc>
              <a:buNone/>
            </a:pPr>
            <a:r>
              <a:rPr lang="en-US" sz="1600" dirty="0">
                <a:solidFill>
                  <a:srgbClr val="FFFFFF"/>
                </a:solidFill>
              </a:rPr>
              <a:t>Domestic politics constrains international action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D25"/>
        </a:solidFill>
      </p:bgPr>
    </p:bg>
    <p:spTree>
      <p:nvGrpSpPr>
        <p:cNvPr id="1" name=""/>
        <p:cNvGrpSpPr/>
        <p:nvPr/>
      </p:nvGrpSpPr>
      <p:grpSpPr>
        <a:xfrm>
          <a:off x="0" y="0"/>
          <a:ext cx="0" cy="0"/>
          <a:chOff x="0" y="0"/>
          <a:chExt cx="0" cy="0"/>
        </a:xfrm>
      </p:grpSpPr>
      <p:sp>
        <p:nvSpPr>
          <p:cNvPr id="2" name="Text 0"/>
          <p:cNvSpPr/>
          <p:nvPr/>
        </p:nvSpPr>
        <p:spPr>
          <a:xfrm>
            <a:off x="731520" y="1371600"/>
            <a:ext cx="7680960" cy="109728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Our Answer</a:t>
            </a:r>
            <a:endParaRPr lang="en-US" sz="4000" dirty="0"/>
          </a:p>
        </p:txBody>
      </p:sp>
      <p:sp>
        <p:nvSpPr>
          <p:cNvPr id="3" name="Text 1"/>
          <p:cNvSpPr/>
          <p:nvPr/>
        </p:nvSpPr>
        <p:spPr>
          <a:xfrm>
            <a:off x="731520" y="2560320"/>
            <a:ext cx="7680960" cy="731520"/>
          </a:xfrm>
          <a:prstGeom prst="rect">
            <a:avLst/>
          </a:prstGeom>
          <a:noFill/>
          <a:ln/>
        </p:spPr>
        <p:txBody>
          <a:bodyPr wrap="square" lIns="0" tIns="0" rIns="0" bIns="0" rtlCol="0" anchor="ctr"/>
          <a:lstStyle/>
          <a:p>
            <a:pPr algn="l" indent="0" marL="0">
              <a:buNone/>
            </a:pPr>
            <a:r>
              <a:rPr lang="en-US" sz="1800" dirty="0">
                <a:solidFill>
                  <a:srgbClr val="74C69D"/>
                </a:solidFill>
                <a:latin typeface="Calibri" pitchFamily="34" charset="0"/>
                <a:ea typeface="Calibri" pitchFamily="34" charset="-122"/>
                <a:cs typeface="Calibri" pitchFamily="34" charset="-120"/>
              </a:rPr>
              <a:t>Let students experience the theory</a:t>
            </a:r>
            <a:endParaRPr lang="en-US" sz="1800" dirty="0"/>
          </a:p>
        </p:txBody>
      </p:sp>
      <p:sp>
        <p:nvSpPr>
          <p:cNvPr id="4" name="Text 2"/>
          <p:cNvSpPr/>
          <p:nvPr/>
        </p:nvSpPr>
        <p:spPr>
          <a:xfrm>
            <a:off x="731520" y="3200400"/>
            <a:ext cx="7680960" cy="731520"/>
          </a:xfrm>
          <a:prstGeom prst="rect">
            <a:avLst/>
          </a:prstGeom>
          <a:noFill/>
          <a:ln/>
        </p:spPr>
        <p:txBody>
          <a:bodyPr wrap="square" lIns="0" tIns="0" rIns="0" bIns="0" rtlCol="0" anchor="ctr"/>
          <a:lstStyle/>
          <a:p>
            <a:pPr indent="0" marL="0">
              <a:buNone/>
            </a:pPr>
            <a:r>
              <a:rPr lang="en-US" sz="1600" dirty="0">
                <a:solidFill>
                  <a:srgbClr val="B0BEC5"/>
                </a:solidFill>
                <a:latin typeface="Calibri" pitchFamily="34" charset="0"/>
                <a:ea typeface="Calibri" pitchFamily="34" charset="-122"/>
                <a:cs typeface="Calibri" pitchFamily="34" charset="-120"/>
              </a:rPr>
              <a:t>Every game mechanic maps to a published academic model.</a:t>
            </a:r>
            <a:endParaRPr lang="en-US" sz="1600" dirty="0"/>
          </a:p>
          <a:p>
            <a:pPr indent="0" marL="0">
              <a:buNone/>
            </a:pPr>
            <a:r>
              <a:rPr lang="en-US" sz="1600" dirty="0">
                <a:solidFill>
                  <a:srgbClr val="B0BEC5"/>
                </a:solidFill>
                <a:latin typeface="Calibri" pitchFamily="34" charset="0"/>
                <a:ea typeface="Calibri" pitchFamily="34" charset="-122"/>
                <a:cs typeface="Calibri" pitchFamily="34" charset="-120"/>
              </a:rPr>
              <a:t>Strategic success requires understanding the theory behind it.</a:t>
            </a:r>
            <a:endParaRPr lang="en-US" sz="1600" dirty="0"/>
          </a:p>
        </p:txBody>
      </p:sp>
      <p:sp>
        <p:nvSpPr>
          <p:cNvPr id="5" name="Text 3"/>
          <p:cNvSpPr/>
          <p:nvPr/>
        </p:nvSpPr>
        <p:spPr>
          <a:xfrm>
            <a:off x="1097280" y="3840480"/>
            <a:ext cx="1371600" cy="548640"/>
          </a:xfrm>
          <a:prstGeom prst="rect">
            <a:avLst/>
          </a:prstGeom>
          <a:noFill/>
          <a:ln/>
        </p:spPr>
        <p:txBody>
          <a:bodyPr wrap="square" lIns="0" tIns="0" rIns="0" bIns="0" rtlCol="0" anchor="ctr"/>
          <a:lstStyle/>
          <a:p>
            <a:pPr algn="ctr" indent="0" marL="0">
              <a:buNone/>
            </a:pPr>
            <a:r>
              <a:rPr lang="en-US" sz="3600" b="1" dirty="0">
                <a:solidFill>
                  <a:srgbClr val="74C69D"/>
                </a:solidFill>
                <a:latin typeface="Calibri" pitchFamily="34" charset="0"/>
                <a:ea typeface="Calibri" pitchFamily="34" charset="-122"/>
                <a:cs typeface="Calibri" pitchFamily="34" charset="-120"/>
              </a:rPr>
              <a:t>10+</a:t>
            </a:r>
            <a:endParaRPr lang="en-US" sz="3600" dirty="0"/>
          </a:p>
        </p:txBody>
      </p:sp>
      <p:sp>
        <p:nvSpPr>
          <p:cNvPr id="6" name="Text 4"/>
          <p:cNvSpPr/>
          <p:nvPr/>
        </p:nvSpPr>
        <p:spPr>
          <a:xfrm>
            <a:off x="1097280" y="4389120"/>
            <a:ext cx="1371600" cy="457200"/>
          </a:xfrm>
          <a:prstGeom prst="rect">
            <a:avLst/>
          </a:prstGeom>
          <a:noFill/>
          <a:ln/>
        </p:spPr>
        <p:txBody>
          <a:bodyPr wrap="square" lIns="0" tIns="0" rIns="0" bIns="0" rtlCol="0" anchor="ctr"/>
          <a:lstStyle/>
          <a:p>
            <a:pPr algn="ctr" indent="0" marL="0">
              <a:buNone/>
            </a:pPr>
            <a:r>
              <a:rPr lang="en-US" sz="1100" dirty="0">
                <a:solidFill>
                  <a:srgbClr val="B0BEC5"/>
                </a:solidFill>
                <a:latin typeface="Calibri" pitchFamily="34" charset="0"/>
                <a:ea typeface="Calibri" pitchFamily="34" charset="-122"/>
                <a:cs typeface="Calibri" pitchFamily="34" charset="-120"/>
              </a:rPr>
              <a:t>Academic</a:t>
            </a:r>
            <a:endParaRPr lang="en-US" sz="1100" dirty="0"/>
          </a:p>
          <a:p>
            <a:pPr algn="ctr" indent="0" marL="0">
              <a:buNone/>
            </a:pPr>
            <a:r>
              <a:rPr lang="en-US" sz="1100" dirty="0">
                <a:solidFill>
                  <a:srgbClr val="B0BEC5"/>
                </a:solidFill>
                <a:latin typeface="Calibri" pitchFamily="34" charset="0"/>
                <a:ea typeface="Calibri" pitchFamily="34" charset="-122"/>
                <a:cs typeface="Calibri" pitchFamily="34" charset="-120"/>
              </a:rPr>
              <a:t>Models</a:t>
            </a:r>
            <a:endParaRPr lang="en-US" sz="1100" dirty="0"/>
          </a:p>
        </p:txBody>
      </p:sp>
      <p:sp>
        <p:nvSpPr>
          <p:cNvPr id="7" name="Text 5"/>
          <p:cNvSpPr/>
          <p:nvPr/>
        </p:nvSpPr>
        <p:spPr>
          <a:xfrm>
            <a:off x="3108960" y="3840480"/>
            <a:ext cx="1371600" cy="548640"/>
          </a:xfrm>
          <a:prstGeom prst="rect">
            <a:avLst/>
          </a:prstGeom>
          <a:noFill/>
          <a:ln/>
        </p:spPr>
        <p:txBody>
          <a:bodyPr wrap="square" lIns="0" tIns="0" rIns="0" bIns="0" rtlCol="0" anchor="ctr"/>
          <a:lstStyle/>
          <a:p>
            <a:pPr algn="ctr" indent="0" marL="0">
              <a:buNone/>
            </a:pPr>
            <a:r>
              <a:rPr lang="en-US" sz="3600" b="1" dirty="0">
                <a:solidFill>
                  <a:srgbClr val="74C69D"/>
                </a:solidFill>
                <a:latin typeface="Calibri" pitchFamily="34" charset="0"/>
                <a:ea typeface="Calibri" pitchFamily="34" charset="-122"/>
                <a:cs typeface="Calibri" pitchFamily="34" charset="-120"/>
              </a:rPr>
              <a:t>8</a:t>
            </a:r>
            <a:endParaRPr lang="en-US" sz="3600" dirty="0"/>
          </a:p>
        </p:txBody>
      </p:sp>
      <p:sp>
        <p:nvSpPr>
          <p:cNvPr id="8" name="Text 6"/>
          <p:cNvSpPr/>
          <p:nvPr/>
        </p:nvSpPr>
        <p:spPr>
          <a:xfrm>
            <a:off x="3108960" y="4389120"/>
            <a:ext cx="1371600" cy="457200"/>
          </a:xfrm>
          <a:prstGeom prst="rect">
            <a:avLst/>
          </a:prstGeom>
          <a:noFill/>
          <a:ln/>
        </p:spPr>
        <p:txBody>
          <a:bodyPr wrap="square" lIns="0" tIns="0" rIns="0" bIns="0" rtlCol="0" anchor="ctr"/>
          <a:lstStyle/>
          <a:p>
            <a:pPr algn="ctr" indent="0" marL="0">
              <a:buNone/>
            </a:pPr>
            <a:r>
              <a:rPr lang="en-US" sz="1100" dirty="0">
                <a:solidFill>
                  <a:srgbClr val="B0BEC5"/>
                </a:solidFill>
                <a:latin typeface="Calibri" pitchFamily="34" charset="0"/>
                <a:ea typeface="Calibri" pitchFamily="34" charset="-122"/>
                <a:cs typeface="Calibri" pitchFamily="34" charset="-120"/>
              </a:rPr>
              <a:t>Country</a:t>
            </a:r>
            <a:endParaRPr lang="en-US" sz="1100" dirty="0"/>
          </a:p>
          <a:p>
            <a:pPr algn="ctr" indent="0" marL="0">
              <a:buNone/>
            </a:pPr>
            <a:r>
              <a:rPr lang="en-US" sz="1100" dirty="0">
                <a:solidFill>
                  <a:srgbClr val="B0BEC5"/>
                </a:solidFill>
                <a:latin typeface="Calibri" pitchFamily="34" charset="0"/>
                <a:ea typeface="Calibri" pitchFamily="34" charset="-122"/>
                <a:cs typeface="Calibri" pitchFamily="34" charset="-120"/>
              </a:rPr>
              <a:t>Blocs</a:t>
            </a:r>
            <a:endParaRPr lang="en-US" sz="1100" dirty="0"/>
          </a:p>
        </p:txBody>
      </p:sp>
      <p:sp>
        <p:nvSpPr>
          <p:cNvPr id="9" name="Text 7"/>
          <p:cNvSpPr/>
          <p:nvPr/>
        </p:nvSpPr>
        <p:spPr>
          <a:xfrm>
            <a:off x="5120640" y="3840480"/>
            <a:ext cx="1371600" cy="548640"/>
          </a:xfrm>
          <a:prstGeom prst="rect">
            <a:avLst/>
          </a:prstGeom>
          <a:noFill/>
          <a:ln/>
        </p:spPr>
        <p:txBody>
          <a:bodyPr wrap="square" lIns="0" tIns="0" rIns="0" bIns="0" rtlCol="0" anchor="ctr"/>
          <a:lstStyle/>
          <a:p>
            <a:pPr algn="ctr" indent="0" marL="0">
              <a:buNone/>
            </a:pPr>
            <a:r>
              <a:rPr lang="en-US" sz="3600" b="1" dirty="0">
                <a:solidFill>
                  <a:srgbClr val="74C69D"/>
                </a:solidFill>
                <a:latin typeface="Calibri" pitchFamily="34" charset="0"/>
                <a:ea typeface="Calibri" pitchFamily="34" charset="-122"/>
                <a:cs typeface="Calibri" pitchFamily="34" charset="-120"/>
              </a:rPr>
              <a:t>9</a:t>
            </a:r>
            <a:endParaRPr lang="en-US" sz="3600" dirty="0"/>
          </a:p>
        </p:txBody>
      </p:sp>
      <p:sp>
        <p:nvSpPr>
          <p:cNvPr id="10" name="Text 8"/>
          <p:cNvSpPr/>
          <p:nvPr/>
        </p:nvSpPr>
        <p:spPr>
          <a:xfrm>
            <a:off x="5120640" y="4389120"/>
            <a:ext cx="1371600" cy="457200"/>
          </a:xfrm>
          <a:prstGeom prst="rect">
            <a:avLst/>
          </a:prstGeom>
          <a:noFill/>
          <a:ln/>
        </p:spPr>
        <p:txBody>
          <a:bodyPr wrap="square" lIns="0" tIns="0" rIns="0" bIns="0" rtlCol="0" anchor="ctr"/>
          <a:lstStyle/>
          <a:p>
            <a:pPr algn="ctr" indent="0" marL="0">
              <a:buNone/>
            </a:pPr>
            <a:r>
              <a:rPr lang="en-US" sz="1100" dirty="0">
                <a:solidFill>
                  <a:srgbClr val="B0BEC5"/>
                </a:solidFill>
                <a:latin typeface="Calibri" pitchFamily="34" charset="0"/>
                <a:ea typeface="Calibri" pitchFamily="34" charset="-122"/>
                <a:cs typeface="Calibri" pitchFamily="34" charset="-120"/>
              </a:rPr>
              <a:t>Building</a:t>
            </a:r>
            <a:endParaRPr lang="en-US" sz="1100" dirty="0"/>
          </a:p>
          <a:p>
            <a:pPr algn="ctr" indent="0" marL="0">
              <a:buNone/>
            </a:pPr>
            <a:r>
              <a:rPr lang="en-US" sz="1100" dirty="0">
                <a:solidFill>
                  <a:srgbClr val="B0BEC5"/>
                </a:solidFill>
                <a:latin typeface="Calibri" pitchFamily="34" charset="0"/>
                <a:ea typeface="Calibri" pitchFamily="34" charset="-122"/>
                <a:cs typeface="Calibri" pitchFamily="34" charset="-120"/>
              </a:rPr>
              <a:t>Types</a:t>
            </a:r>
            <a:endParaRPr lang="en-US" sz="1100" dirty="0"/>
          </a:p>
        </p:txBody>
      </p:sp>
      <p:sp>
        <p:nvSpPr>
          <p:cNvPr id="11" name="Text 9"/>
          <p:cNvSpPr/>
          <p:nvPr/>
        </p:nvSpPr>
        <p:spPr>
          <a:xfrm>
            <a:off x="7132320" y="3840480"/>
            <a:ext cx="1371600" cy="548640"/>
          </a:xfrm>
          <a:prstGeom prst="rect">
            <a:avLst/>
          </a:prstGeom>
          <a:noFill/>
          <a:ln/>
        </p:spPr>
        <p:txBody>
          <a:bodyPr wrap="square" lIns="0" tIns="0" rIns="0" bIns="0" rtlCol="0" anchor="ctr"/>
          <a:lstStyle/>
          <a:p>
            <a:pPr algn="ctr" indent="0" marL="0">
              <a:buNone/>
            </a:pPr>
            <a:r>
              <a:rPr lang="en-US" sz="3600" b="1" dirty="0">
                <a:solidFill>
                  <a:srgbClr val="74C69D"/>
                </a:solidFill>
                <a:latin typeface="Calibri" pitchFamily="34" charset="0"/>
                <a:ea typeface="Calibri" pitchFamily="34" charset="-122"/>
                <a:cs typeface="Calibri" pitchFamily="34" charset="-120"/>
              </a:rPr>
              <a:t>1-8</a:t>
            </a:r>
            <a:endParaRPr lang="en-US" sz="3600" dirty="0"/>
          </a:p>
        </p:txBody>
      </p:sp>
      <p:sp>
        <p:nvSpPr>
          <p:cNvPr id="12" name="Text 10"/>
          <p:cNvSpPr/>
          <p:nvPr/>
        </p:nvSpPr>
        <p:spPr>
          <a:xfrm>
            <a:off x="7132320" y="4389120"/>
            <a:ext cx="1371600" cy="457200"/>
          </a:xfrm>
          <a:prstGeom prst="rect">
            <a:avLst/>
          </a:prstGeom>
          <a:noFill/>
          <a:ln/>
        </p:spPr>
        <p:txBody>
          <a:bodyPr wrap="square" lIns="0" tIns="0" rIns="0" bIns="0" rtlCol="0" anchor="ctr"/>
          <a:lstStyle/>
          <a:p>
            <a:pPr algn="ctr" indent="0" marL="0">
              <a:buNone/>
            </a:pPr>
            <a:r>
              <a:rPr lang="en-US" sz="1100" dirty="0">
                <a:solidFill>
                  <a:srgbClr val="B0BEC5"/>
                </a:solidFill>
                <a:latin typeface="Calibri" pitchFamily="34" charset="0"/>
                <a:ea typeface="Calibri" pitchFamily="34" charset="-122"/>
                <a:cs typeface="Calibri" pitchFamily="34" charset="-120"/>
              </a:rPr>
              <a:t>Players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Module Alignment — ILOs</a:t>
            </a:r>
            <a:endParaRPr lang="en-US" sz="2400" dirty="0"/>
          </a:p>
        </p:txBody>
      </p:sp>
      <p:sp>
        <p:nvSpPr>
          <p:cNvPr id="4" name="Shape 2"/>
          <p:cNvSpPr/>
          <p:nvPr/>
        </p:nvSpPr>
        <p:spPr>
          <a:xfrm>
            <a:off x="640080" y="1051560"/>
            <a:ext cx="7863840" cy="640080"/>
          </a:xfrm>
          <a:prstGeom prst="roundRect">
            <a:avLst>
              <a:gd name="adj" fmla="val 11429"/>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822960" y="1097280"/>
            <a:ext cx="731520" cy="54864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ILO 1</a:t>
            </a:r>
            <a:endParaRPr lang="en-US" sz="1300" dirty="0"/>
          </a:p>
        </p:txBody>
      </p:sp>
      <p:sp>
        <p:nvSpPr>
          <p:cNvPr id="6" name="Text 4"/>
          <p:cNvSpPr/>
          <p:nvPr/>
        </p:nvSpPr>
        <p:spPr>
          <a:xfrm>
            <a:off x="1645920" y="1097280"/>
            <a:ext cx="2743200" cy="5486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Identify key theories</a:t>
            </a:r>
            <a:endParaRPr lang="en-US" sz="1300" dirty="0"/>
          </a:p>
        </p:txBody>
      </p:sp>
      <p:sp>
        <p:nvSpPr>
          <p:cNvPr id="7" name="Text 5"/>
          <p:cNvSpPr/>
          <p:nvPr/>
        </p:nvSpPr>
        <p:spPr>
          <a:xfrm>
            <a:off x="4572000" y="1097280"/>
            <a:ext cx="3749040" cy="548640"/>
          </a:xfrm>
          <a:prstGeom prst="rect">
            <a:avLst/>
          </a:prstGeom>
          <a:noFill/>
          <a:ln/>
        </p:spPr>
        <p:txBody>
          <a:bodyPr wrap="square" lIns="0" tIns="0" rIns="0" bIns="0" rtlCol="0" anchor="ctr"/>
          <a:lstStyle/>
          <a:p>
            <a:pPr indent="0" marL="0">
              <a:buNone/>
            </a:pPr>
            <a:r>
              <a:rPr lang="en-US" sz="1200" i="1" dirty="0">
                <a:solidFill>
                  <a:srgbClr val="2D6A4F"/>
                </a:solidFill>
                <a:latin typeface="Calibri" pitchFamily="34" charset="0"/>
                <a:ea typeface="Calibri" pitchFamily="34" charset="-122"/>
                <a:cs typeface="Calibri" pitchFamily="34" charset="-120"/>
              </a:rPr>
              <a:t>10+ models implemented as mechanics</a:t>
            </a:r>
            <a:endParaRPr lang="en-US" sz="1200" dirty="0"/>
          </a:p>
        </p:txBody>
      </p:sp>
      <p:sp>
        <p:nvSpPr>
          <p:cNvPr id="8" name="Shape 6"/>
          <p:cNvSpPr/>
          <p:nvPr/>
        </p:nvSpPr>
        <p:spPr>
          <a:xfrm>
            <a:off x="640080" y="1828800"/>
            <a:ext cx="7863840" cy="640080"/>
          </a:xfrm>
          <a:prstGeom prst="roundRect">
            <a:avLst>
              <a:gd name="adj" fmla="val 11429"/>
            </a:avLst>
          </a:prstGeom>
          <a:solidFill>
            <a:srgbClr val="D8F3DC"/>
          </a:solidFill>
          <a:ln/>
          <a:effectLst>
            <a:outerShdw sx="100000" sy="100000" kx="0" ky="0" algn="bl" rotWithShape="0" blurRad="101600" dist="38100" dir="2700000">
              <a:srgbClr val="000000">
                <a:alpha val="12000"/>
              </a:srgbClr>
            </a:outerShdw>
          </a:effectLst>
        </p:spPr>
      </p:sp>
      <p:sp>
        <p:nvSpPr>
          <p:cNvPr id="9" name="Text 7"/>
          <p:cNvSpPr/>
          <p:nvPr/>
        </p:nvSpPr>
        <p:spPr>
          <a:xfrm>
            <a:off x="822960" y="1874520"/>
            <a:ext cx="731520" cy="54864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ILO 2</a:t>
            </a:r>
            <a:endParaRPr lang="en-US" sz="1300" dirty="0"/>
          </a:p>
        </p:txBody>
      </p:sp>
      <p:sp>
        <p:nvSpPr>
          <p:cNvPr id="10" name="Text 8"/>
          <p:cNvSpPr/>
          <p:nvPr/>
        </p:nvSpPr>
        <p:spPr>
          <a:xfrm>
            <a:off x="1645920" y="1874520"/>
            <a:ext cx="2743200" cy="5486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Distinguish approaches</a:t>
            </a:r>
            <a:endParaRPr lang="en-US" sz="1300" dirty="0"/>
          </a:p>
        </p:txBody>
      </p:sp>
      <p:sp>
        <p:nvSpPr>
          <p:cNvPr id="11" name="Text 9"/>
          <p:cNvSpPr/>
          <p:nvPr/>
        </p:nvSpPr>
        <p:spPr>
          <a:xfrm>
            <a:off x="4572000" y="1874520"/>
            <a:ext cx="3749040" cy="548640"/>
          </a:xfrm>
          <a:prstGeom prst="rect">
            <a:avLst/>
          </a:prstGeom>
          <a:noFill/>
          <a:ln/>
        </p:spPr>
        <p:txBody>
          <a:bodyPr wrap="square" lIns="0" tIns="0" rIns="0" bIns="0" rtlCol="0" anchor="ctr"/>
          <a:lstStyle/>
          <a:p>
            <a:pPr indent="0" marL="0">
              <a:buNone/>
            </a:pPr>
            <a:r>
              <a:rPr lang="en-US" sz="1200" i="1" dirty="0">
                <a:solidFill>
                  <a:srgbClr val="2D6A4F"/>
                </a:solidFill>
                <a:latin typeface="Calibri" pitchFamily="34" charset="0"/>
                <a:ea typeface="Calibri" pitchFamily="34" charset="-122"/>
                <a:cs typeface="Calibri" pitchFamily="34" charset="-120"/>
              </a:rPr>
              <a:t>Each theory creates different strategic trade-offs</a:t>
            </a:r>
            <a:endParaRPr lang="en-US" sz="1200" dirty="0"/>
          </a:p>
        </p:txBody>
      </p:sp>
      <p:sp>
        <p:nvSpPr>
          <p:cNvPr id="12" name="Shape 10"/>
          <p:cNvSpPr/>
          <p:nvPr/>
        </p:nvSpPr>
        <p:spPr>
          <a:xfrm>
            <a:off x="640080" y="2606040"/>
            <a:ext cx="7863840" cy="640080"/>
          </a:xfrm>
          <a:prstGeom prst="roundRect">
            <a:avLst>
              <a:gd name="adj" fmla="val 1142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822960" y="2651760"/>
            <a:ext cx="731520" cy="54864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ILO 3</a:t>
            </a:r>
            <a:endParaRPr lang="en-US" sz="1300" dirty="0"/>
          </a:p>
        </p:txBody>
      </p:sp>
      <p:sp>
        <p:nvSpPr>
          <p:cNvPr id="14" name="Text 12"/>
          <p:cNvSpPr/>
          <p:nvPr/>
        </p:nvSpPr>
        <p:spPr>
          <a:xfrm>
            <a:off x="1645920" y="2651760"/>
            <a:ext cx="2743200" cy="5486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Apply comparative methods</a:t>
            </a:r>
            <a:endParaRPr lang="en-US" sz="1300" dirty="0"/>
          </a:p>
        </p:txBody>
      </p:sp>
      <p:sp>
        <p:nvSpPr>
          <p:cNvPr id="15" name="Text 13"/>
          <p:cNvSpPr/>
          <p:nvPr/>
        </p:nvSpPr>
        <p:spPr>
          <a:xfrm>
            <a:off x="4572000" y="2651760"/>
            <a:ext cx="3749040" cy="548640"/>
          </a:xfrm>
          <a:prstGeom prst="rect">
            <a:avLst/>
          </a:prstGeom>
          <a:noFill/>
          <a:ln/>
        </p:spPr>
        <p:txBody>
          <a:bodyPr wrap="square" lIns="0" tIns="0" rIns="0" bIns="0" rtlCol="0" anchor="ctr"/>
          <a:lstStyle/>
          <a:p>
            <a:pPr indent="0" marL="0">
              <a:buNone/>
            </a:pPr>
            <a:r>
              <a:rPr lang="en-US" sz="1200" i="1" dirty="0">
                <a:solidFill>
                  <a:srgbClr val="2D6A4F"/>
                </a:solidFill>
                <a:latin typeface="Calibri" pitchFamily="34" charset="0"/>
                <a:ea typeface="Calibri" pitchFamily="34" charset="-122"/>
                <a:cs typeface="Calibri" pitchFamily="34" charset="-120"/>
              </a:rPr>
              <a:t>Liefferink gap analysis as real-time dashboard</a:t>
            </a:r>
            <a:endParaRPr lang="en-US" sz="1200" dirty="0"/>
          </a:p>
        </p:txBody>
      </p:sp>
      <p:sp>
        <p:nvSpPr>
          <p:cNvPr id="16" name="Shape 14"/>
          <p:cNvSpPr/>
          <p:nvPr/>
        </p:nvSpPr>
        <p:spPr>
          <a:xfrm>
            <a:off x="640080" y="3383280"/>
            <a:ext cx="7863840" cy="640080"/>
          </a:xfrm>
          <a:prstGeom prst="roundRect">
            <a:avLst>
              <a:gd name="adj" fmla="val 11429"/>
            </a:avLst>
          </a:prstGeom>
          <a:solidFill>
            <a:srgbClr val="D8F3DC"/>
          </a:solidFill>
          <a:ln/>
          <a:effectLst>
            <a:outerShdw sx="100000" sy="100000" kx="0" ky="0" algn="bl" rotWithShape="0" blurRad="101600" dist="38100" dir="2700000">
              <a:srgbClr val="000000">
                <a:alpha val="12000"/>
              </a:srgbClr>
            </a:outerShdw>
          </a:effectLst>
        </p:spPr>
      </p:sp>
      <p:sp>
        <p:nvSpPr>
          <p:cNvPr id="17" name="Text 15"/>
          <p:cNvSpPr/>
          <p:nvPr/>
        </p:nvSpPr>
        <p:spPr>
          <a:xfrm>
            <a:off x="822960" y="3429000"/>
            <a:ext cx="731520" cy="54864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ILO 4</a:t>
            </a:r>
            <a:endParaRPr lang="en-US" sz="1300" dirty="0"/>
          </a:p>
        </p:txBody>
      </p:sp>
      <p:sp>
        <p:nvSpPr>
          <p:cNvPr id="18" name="Text 16"/>
          <p:cNvSpPr/>
          <p:nvPr/>
        </p:nvSpPr>
        <p:spPr>
          <a:xfrm>
            <a:off x="1645920" y="3429000"/>
            <a:ext cx="2743200" cy="5486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Compare institutions &amp; actors</a:t>
            </a:r>
            <a:endParaRPr lang="en-US" sz="1300" dirty="0"/>
          </a:p>
        </p:txBody>
      </p:sp>
      <p:sp>
        <p:nvSpPr>
          <p:cNvPr id="19" name="Text 17"/>
          <p:cNvSpPr/>
          <p:nvPr/>
        </p:nvSpPr>
        <p:spPr>
          <a:xfrm>
            <a:off x="4572000" y="3429000"/>
            <a:ext cx="3749040" cy="548640"/>
          </a:xfrm>
          <a:prstGeom prst="rect">
            <a:avLst/>
          </a:prstGeom>
          <a:noFill/>
          <a:ln/>
        </p:spPr>
        <p:txBody>
          <a:bodyPr wrap="square" lIns="0" tIns="0" rIns="0" bIns="0" rtlCol="0" anchor="ctr"/>
          <a:lstStyle/>
          <a:p>
            <a:pPr indent="0" marL="0">
              <a:buNone/>
            </a:pPr>
            <a:r>
              <a:rPr lang="en-US" sz="1200" i="1" dirty="0">
                <a:solidFill>
                  <a:srgbClr val="2D6A4F"/>
                </a:solidFill>
                <a:latin typeface="Calibri" pitchFamily="34" charset="0"/>
                <a:ea typeface="Calibri" pitchFamily="34" charset="-122"/>
                <a:cs typeface="Calibri" pitchFamily="34" charset="-120"/>
              </a:rPr>
              <a:t>8 asymmetric country blocs from real data</a:t>
            </a:r>
            <a:endParaRPr lang="en-US" sz="1200" dirty="0"/>
          </a:p>
        </p:txBody>
      </p:sp>
      <p:sp>
        <p:nvSpPr>
          <p:cNvPr id="20" name="Shape 18"/>
          <p:cNvSpPr/>
          <p:nvPr/>
        </p:nvSpPr>
        <p:spPr>
          <a:xfrm>
            <a:off x="640080" y="4160520"/>
            <a:ext cx="7863840" cy="640080"/>
          </a:xfrm>
          <a:prstGeom prst="roundRect">
            <a:avLst>
              <a:gd name="adj" fmla="val 11429"/>
            </a:avLst>
          </a:prstGeom>
          <a:solidFill>
            <a:srgbClr val="FFFFFF"/>
          </a:solidFill>
          <a:ln/>
          <a:effectLst>
            <a:outerShdw sx="100000" sy="100000" kx="0" ky="0" algn="bl" rotWithShape="0" blurRad="101600" dist="38100" dir="2700000">
              <a:srgbClr val="000000">
                <a:alpha val="12000"/>
              </a:srgbClr>
            </a:outerShdw>
          </a:effectLst>
        </p:spPr>
      </p:sp>
      <p:sp>
        <p:nvSpPr>
          <p:cNvPr id="21" name="Text 19"/>
          <p:cNvSpPr/>
          <p:nvPr/>
        </p:nvSpPr>
        <p:spPr>
          <a:xfrm>
            <a:off x="822960" y="4206240"/>
            <a:ext cx="731520" cy="54864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ILO 5</a:t>
            </a:r>
            <a:endParaRPr lang="en-US" sz="1300" dirty="0"/>
          </a:p>
        </p:txBody>
      </p:sp>
      <p:sp>
        <p:nvSpPr>
          <p:cNvPr id="22" name="Text 20"/>
          <p:cNvSpPr/>
          <p:nvPr/>
        </p:nvSpPr>
        <p:spPr>
          <a:xfrm>
            <a:off x="1645920" y="4206240"/>
            <a:ext cx="2743200" cy="5486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Evaluate outcomes comparatively</a:t>
            </a:r>
            <a:endParaRPr lang="en-US" sz="1300" dirty="0"/>
          </a:p>
        </p:txBody>
      </p:sp>
      <p:sp>
        <p:nvSpPr>
          <p:cNvPr id="23" name="Text 21"/>
          <p:cNvSpPr/>
          <p:nvPr/>
        </p:nvSpPr>
        <p:spPr>
          <a:xfrm>
            <a:off x="4572000" y="4206240"/>
            <a:ext cx="3749040" cy="548640"/>
          </a:xfrm>
          <a:prstGeom prst="rect">
            <a:avLst/>
          </a:prstGeom>
          <a:noFill/>
          <a:ln/>
        </p:spPr>
        <p:txBody>
          <a:bodyPr wrap="square" lIns="0" tIns="0" rIns="0" bIns="0" rtlCol="0" anchor="ctr"/>
          <a:lstStyle/>
          <a:p>
            <a:pPr indent="0" marL="0">
              <a:buNone/>
            </a:pPr>
            <a:r>
              <a:rPr lang="en-US" sz="1200" i="1" dirty="0">
                <a:solidFill>
                  <a:srgbClr val="2D6A4F"/>
                </a:solidFill>
                <a:latin typeface="Calibri" pitchFamily="34" charset="0"/>
                <a:ea typeface="Calibri" pitchFamily="34" charset="-122"/>
                <a:cs typeface="Calibri" pitchFamily="34" charset="-120"/>
              </a:rPr>
              <a:t>Pioneer/laggard composite score = victory condition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Layer 1: Tragedy of the Commons</a:t>
            </a:r>
            <a:endParaRPr lang="en-US" sz="2400" dirty="0"/>
          </a:p>
        </p:txBody>
      </p:sp>
      <p:sp>
        <p:nvSpPr>
          <p:cNvPr id="4" name="Shape 2"/>
          <p:cNvSpPr/>
          <p:nvPr/>
        </p:nvSpPr>
        <p:spPr>
          <a:xfrm>
            <a:off x="640080" y="1097280"/>
            <a:ext cx="3749040" cy="1828800"/>
          </a:xfrm>
          <a:prstGeom prst="roundRect">
            <a:avLst>
              <a:gd name="adj" fmla="val 5000"/>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822960" y="1188720"/>
            <a:ext cx="3383280" cy="365760"/>
          </a:xfrm>
          <a:prstGeom prst="rect">
            <a:avLst/>
          </a:prstGeom>
          <a:noFill/>
          <a:ln/>
        </p:spPr>
        <p:txBody>
          <a:bodyPr wrap="square" lIns="0" tIns="0" rIns="0" bIns="0" rtlCol="0" anchor="ctr"/>
          <a:lstStyle/>
          <a:p>
            <a:pPr indent="0" marL="0">
              <a:buNone/>
            </a:pPr>
            <a:r>
              <a:rPr lang="en-US" sz="1400" b="1" dirty="0">
                <a:solidFill>
                  <a:srgbClr val="1B4332"/>
                </a:solidFill>
                <a:latin typeface="Calibri" pitchFamily="34" charset="0"/>
                <a:ea typeface="Calibri" pitchFamily="34" charset="-122"/>
                <a:cs typeface="Calibri" pitchFamily="34" charset="-120"/>
              </a:rPr>
              <a:t>Hardin (1968) + Olson (1965)</a:t>
            </a:r>
            <a:endParaRPr lang="en-US" sz="1400" dirty="0"/>
          </a:p>
        </p:txBody>
      </p:sp>
      <p:sp>
        <p:nvSpPr>
          <p:cNvPr id="6" name="Text 4"/>
          <p:cNvSpPr/>
          <p:nvPr/>
        </p:nvSpPr>
        <p:spPr>
          <a:xfrm>
            <a:off x="822960" y="1554480"/>
            <a:ext cx="3383280" cy="118872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Each actor exploits a shared resource for individual gain.</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No one bears the full cost of overuse.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Rational self-interest leads to collective ruin.</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Free-riders benefit without contributing.</a:t>
            </a:r>
            <a:endParaRPr lang="en-US" sz="1200" dirty="0"/>
          </a:p>
        </p:txBody>
      </p:sp>
      <p:sp>
        <p:nvSpPr>
          <p:cNvPr id="7" name="Shape 5"/>
          <p:cNvSpPr/>
          <p:nvPr/>
        </p:nvSpPr>
        <p:spPr>
          <a:xfrm>
            <a:off x="4754880" y="1097280"/>
            <a:ext cx="3749040" cy="1828800"/>
          </a:xfrm>
          <a:prstGeom prst="roundRect">
            <a:avLst>
              <a:gd name="adj" fmla="val 5000"/>
            </a:avLst>
          </a:prstGeom>
          <a:solidFill>
            <a:srgbClr val="D8F3DC"/>
          </a:solidFill>
          <a:ln/>
          <a:effectLst>
            <a:outerShdw sx="100000" sy="100000" kx="0" ky="0" algn="bl" rotWithShape="0" blurRad="101600" dist="38100" dir="2700000">
              <a:srgbClr val="000000">
                <a:alpha val="12000"/>
              </a:srgbClr>
            </a:outerShdw>
          </a:effectLst>
        </p:spPr>
      </p:sp>
      <p:sp>
        <p:nvSpPr>
          <p:cNvPr id="8" name="Text 6"/>
          <p:cNvSpPr/>
          <p:nvPr/>
        </p:nvSpPr>
        <p:spPr>
          <a:xfrm>
            <a:off x="4937760" y="1188720"/>
            <a:ext cx="3383280" cy="365760"/>
          </a:xfrm>
          <a:prstGeom prst="rect">
            <a:avLst/>
          </a:prstGeom>
          <a:noFill/>
          <a:ln/>
        </p:spPr>
        <p:txBody>
          <a:bodyPr wrap="square" lIns="0" tIns="0" rIns="0" bIns="0"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Game Mechanic</a:t>
            </a:r>
            <a:endParaRPr lang="en-US" sz="1400" dirty="0"/>
          </a:p>
        </p:txBody>
      </p:sp>
      <p:sp>
        <p:nvSpPr>
          <p:cNvPr id="9" name="Text 7"/>
          <p:cNvSpPr/>
          <p:nvPr/>
        </p:nvSpPr>
        <p:spPr>
          <a:xfrm>
            <a:off x="4937760" y="1554480"/>
            <a:ext cx="3383280" cy="118872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Every fossil building produces CO₂ → shared global temperature.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Temperature rises penalise ALL 8 countries equally.</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Unilateral cuts cost you fully, benefit everyone 1/8th.</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No global authority enforces cooperation.</a:t>
            </a:r>
            <a:endParaRPr lang="en-US" sz="1200" dirty="0"/>
          </a:p>
        </p:txBody>
      </p:sp>
      <p:sp>
        <p:nvSpPr>
          <p:cNvPr id="10" name="Text 8"/>
          <p:cNvSpPr/>
          <p:nvPr/>
        </p:nvSpPr>
        <p:spPr>
          <a:xfrm>
            <a:off x="640080" y="3108960"/>
            <a:ext cx="7863840" cy="365760"/>
          </a:xfrm>
          <a:prstGeom prst="rect">
            <a:avLst/>
          </a:prstGeom>
          <a:noFill/>
          <a:ln/>
        </p:spPr>
        <p:txBody>
          <a:bodyPr wrap="square" lIns="0" tIns="0" rIns="0" bIns="0" rtlCol="0" anchor="ctr"/>
          <a:lstStyle/>
          <a:p>
            <a:pPr indent="0" marL="0">
              <a:buNone/>
            </a:pPr>
            <a:r>
              <a:rPr lang="en-US" sz="1300" i="1" dirty="0">
                <a:solidFill>
                  <a:srgbClr val="6C757D"/>
                </a:solidFill>
                <a:latin typeface="Calibri" pitchFamily="34" charset="0"/>
                <a:ea typeface="Calibri" pitchFamily="34" charset="-122"/>
                <a:cs typeface="Calibri" pitchFamily="34" charset="-120"/>
              </a:rPr>
              <a:t>This IS the core tension. Everything else builds on it.</a:t>
            </a:r>
            <a:endParaRPr lang="en-US" sz="1300" dirty="0"/>
          </a:p>
        </p:txBody>
      </p:sp>
      <p:sp>
        <p:nvSpPr>
          <p:cNvPr id="11" name="Shape 9"/>
          <p:cNvSpPr/>
          <p:nvPr/>
        </p:nvSpPr>
        <p:spPr>
          <a:xfrm>
            <a:off x="3840480" y="3520440"/>
            <a:ext cx="1463040" cy="822960"/>
          </a:xfrm>
          <a:prstGeom prst="ellipse">
            <a:avLst/>
          </a:prstGeom>
          <a:solidFill>
            <a:srgbClr val="40916C"/>
          </a:solidFill>
          <a:ln/>
        </p:spPr>
      </p:sp>
      <p:sp>
        <p:nvSpPr>
          <p:cNvPr id="12" name="Text 10"/>
          <p:cNvSpPr/>
          <p:nvPr/>
        </p:nvSpPr>
        <p:spPr>
          <a:xfrm>
            <a:off x="3840480" y="3520440"/>
            <a:ext cx="146304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Global</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Temp</a:t>
            </a:r>
            <a:endParaRPr lang="en-US" sz="1200" dirty="0"/>
          </a:p>
        </p:txBody>
      </p:sp>
      <p:sp>
        <p:nvSpPr>
          <p:cNvPr id="13" name="Text 11"/>
          <p:cNvSpPr/>
          <p:nvPr/>
        </p:nvSpPr>
        <p:spPr>
          <a:xfrm>
            <a:off x="4251960" y="2743200"/>
            <a:ext cx="640080" cy="365760"/>
          </a:xfrm>
          <a:prstGeom prst="rect">
            <a:avLst/>
          </a:prstGeom>
          <a:noFill/>
          <a:ln/>
        </p:spPr>
        <p:txBody>
          <a:bodyPr wrap="square" lIns="0" tIns="0" rIns="0" bIns="0" rtlCol="0" anchor="ctr"/>
          <a:lstStyle/>
          <a:p>
            <a:pPr algn="ctr" indent="0" marL="0">
              <a:buNone/>
            </a:pPr>
            <a:r>
              <a:rPr lang="en-US" sz="900" b="1" dirty="0">
                <a:solidFill>
                  <a:srgbClr val="1B4332"/>
                </a:solidFill>
                <a:latin typeface="Calibri" pitchFamily="34" charset="0"/>
                <a:ea typeface="Calibri" pitchFamily="34" charset="-122"/>
                <a:cs typeface="Calibri" pitchFamily="34" charset="-120"/>
              </a:rPr>
              <a:t>USA</a:t>
            </a:r>
            <a:endParaRPr lang="en-US" sz="900" dirty="0"/>
          </a:p>
        </p:txBody>
      </p:sp>
      <p:sp>
        <p:nvSpPr>
          <p:cNvPr id="14" name="Text 12"/>
          <p:cNvSpPr/>
          <p:nvPr/>
        </p:nvSpPr>
        <p:spPr>
          <a:xfrm>
            <a:off x="5545117" y="3037804"/>
            <a:ext cx="640080" cy="365760"/>
          </a:xfrm>
          <a:prstGeom prst="rect">
            <a:avLst/>
          </a:prstGeom>
          <a:noFill/>
          <a:ln/>
        </p:spPr>
        <p:txBody>
          <a:bodyPr wrap="square" lIns="0" tIns="0" rIns="0" bIns="0" rtlCol="0" anchor="ctr"/>
          <a:lstStyle/>
          <a:p>
            <a:pPr algn="ctr" indent="0" marL="0">
              <a:buNone/>
            </a:pPr>
            <a:r>
              <a:rPr lang="en-US" sz="900" b="1" dirty="0">
                <a:solidFill>
                  <a:srgbClr val="1B4332"/>
                </a:solidFill>
                <a:latin typeface="Calibri" pitchFamily="34" charset="0"/>
                <a:ea typeface="Calibri" pitchFamily="34" charset="-122"/>
                <a:cs typeface="Calibri" pitchFamily="34" charset="-120"/>
              </a:rPr>
              <a:t>EU</a:t>
            </a:r>
            <a:endParaRPr lang="en-US" sz="900" dirty="0"/>
          </a:p>
        </p:txBody>
      </p:sp>
      <p:sp>
        <p:nvSpPr>
          <p:cNvPr id="15" name="Text 13"/>
          <p:cNvSpPr/>
          <p:nvPr/>
        </p:nvSpPr>
        <p:spPr>
          <a:xfrm>
            <a:off x="6080760" y="3749040"/>
            <a:ext cx="640080" cy="365760"/>
          </a:xfrm>
          <a:prstGeom prst="rect">
            <a:avLst/>
          </a:prstGeom>
          <a:noFill/>
          <a:ln/>
        </p:spPr>
        <p:txBody>
          <a:bodyPr wrap="square" lIns="0" tIns="0" rIns="0" bIns="0" rtlCol="0" anchor="ctr"/>
          <a:lstStyle/>
          <a:p>
            <a:pPr algn="ctr" indent="0" marL="0">
              <a:buNone/>
            </a:pPr>
            <a:r>
              <a:rPr lang="en-US" sz="900" b="1" dirty="0">
                <a:solidFill>
                  <a:srgbClr val="1B4332"/>
                </a:solidFill>
                <a:latin typeface="Calibri" pitchFamily="34" charset="0"/>
                <a:ea typeface="Calibri" pitchFamily="34" charset="-122"/>
                <a:cs typeface="Calibri" pitchFamily="34" charset="-120"/>
              </a:rPr>
              <a:t>RUS</a:t>
            </a:r>
            <a:endParaRPr lang="en-US" sz="900" dirty="0"/>
          </a:p>
        </p:txBody>
      </p:sp>
      <p:sp>
        <p:nvSpPr>
          <p:cNvPr id="16" name="Text 14"/>
          <p:cNvSpPr/>
          <p:nvPr/>
        </p:nvSpPr>
        <p:spPr>
          <a:xfrm>
            <a:off x="5545117" y="4460276"/>
            <a:ext cx="640080" cy="365760"/>
          </a:xfrm>
          <a:prstGeom prst="rect">
            <a:avLst/>
          </a:prstGeom>
          <a:noFill/>
          <a:ln/>
        </p:spPr>
        <p:txBody>
          <a:bodyPr wrap="square" lIns="0" tIns="0" rIns="0" bIns="0" rtlCol="0" anchor="ctr"/>
          <a:lstStyle/>
          <a:p>
            <a:pPr algn="ctr" indent="0" marL="0">
              <a:buNone/>
            </a:pPr>
            <a:r>
              <a:rPr lang="en-US" sz="900" b="1" dirty="0">
                <a:solidFill>
                  <a:srgbClr val="1B4332"/>
                </a:solidFill>
                <a:latin typeface="Calibri" pitchFamily="34" charset="0"/>
                <a:ea typeface="Calibri" pitchFamily="34" charset="-122"/>
                <a:cs typeface="Calibri" pitchFamily="34" charset="-120"/>
              </a:rPr>
              <a:t>CHN</a:t>
            </a:r>
            <a:endParaRPr lang="en-US" sz="900" dirty="0"/>
          </a:p>
        </p:txBody>
      </p:sp>
      <p:sp>
        <p:nvSpPr>
          <p:cNvPr id="17" name="Text 15"/>
          <p:cNvSpPr/>
          <p:nvPr/>
        </p:nvSpPr>
        <p:spPr>
          <a:xfrm>
            <a:off x="4251960" y="4754880"/>
            <a:ext cx="640080" cy="365760"/>
          </a:xfrm>
          <a:prstGeom prst="rect">
            <a:avLst/>
          </a:prstGeom>
          <a:noFill/>
          <a:ln/>
        </p:spPr>
        <p:txBody>
          <a:bodyPr wrap="square" lIns="0" tIns="0" rIns="0" bIns="0" rtlCol="0" anchor="ctr"/>
          <a:lstStyle/>
          <a:p>
            <a:pPr algn="ctr" indent="0" marL="0">
              <a:buNone/>
            </a:pPr>
            <a:r>
              <a:rPr lang="en-US" sz="900" b="1" dirty="0">
                <a:solidFill>
                  <a:srgbClr val="1B4332"/>
                </a:solidFill>
                <a:latin typeface="Calibri" pitchFamily="34" charset="0"/>
                <a:ea typeface="Calibri" pitchFamily="34" charset="-122"/>
                <a:cs typeface="Calibri" pitchFamily="34" charset="-120"/>
              </a:rPr>
              <a:t>IND</a:t>
            </a:r>
            <a:endParaRPr lang="en-US" sz="900" dirty="0"/>
          </a:p>
        </p:txBody>
      </p:sp>
      <p:sp>
        <p:nvSpPr>
          <p:cNvPr id="18" name="Text 16"/>
          <p:cNvSpPr/>
          <p:nvPr/>
        </p:nvSpPr>
        <p:spPr>
          <a:xfrm>
            <a:off x="2958803" y="4460276"/>
            <a:ext cx="640080" cy="365760"/>
          </a:xfrm>
          <a:prstGeom prst="rect">
            <a:avLst/>
          </a:prstGeom>
          <a:noFill/>
          <a:ln/>
        </p:spPr>
        <p:txBody>
          <a:bodyPr wrap="square" lIns="0" tIns="0" rIns="0" bIns="0" rtlCol="0" anchor="ctr"/>
          <a:lstStyle/>
          <a:p>
            <a:pPr algn="ctr" indent="0" marL="0">
              <a:buNone/>
            </a:pPr>
            <a:r>
              <a:rPr lang="en-US" sz="900" b="1" dirty="0">
                <a:solidFill>
                  <a:srgbClr val="1B4332"/>
                </a:solidFill>
                <a:latin typeface="Calibri" pitchFamily="34" charset="0"/>
                <a:ea typeface="Calibri" pitchFamily="34" charset="-122"/>
                <a:cs typeface="Calibri" pitchFamily="34" charset="-120"/>
              </a:rPr>
              <a:t>OPEC</a:t>
            </a:r>
            <a:endParaRPr lang="en-US" sz="900" dirty="0"/>
          </a:p>
        </p:txBody>
      </p:sp>
      <p:sp>
        <p:nvSpPr>
          <p:cNvPr id="19" name="Text 17"/>
          <p:cNvSpPr/>
          <p:nvPr/>
        </p:nvSpPr>
        <p:spPr>
          <a:xfrm>
            <a:off x="2423160" y="3749040"/>
            <a:ext cx="640080" cy="365760"/>
          </a:xfrm>
          <a:prstGeom prst="rect">
            <a:avLst/>
          </a:prstGeom>
          <a:noFill/>
          <a:ln/>
        </p:spPr>
        <p:txBody>
          <a:bodyPr wrap="square" lIns="0" tIns="0" rIns="0" bIns="0" rtlCol="0" anchor="ctr"/>
          <a:lstStyle/>
          <a:p>
            <a:pPr algn="ctr" indent="0" marL="0">
              <a:buNone/>
            </a:pPr>
            <a:r>
              <a:rPr lang="en-US" sz="900" b="1" dirty="0">
                <a:solidFill>
                  <a:srgbClr val="1B4332"/>
                </a:solidFill>
                <a:latin typeface="Calibri" pitchFamily="34" charset="0"/>
                <a:ea typeface="Calibri" pitchFamily="34" charset="-122"/>
                <a:cs typeface="Calibri" pitchFamily="34" charset="-120"/>
              </a:rPr>
              <a:t>LAT</a:t>
            </a:r>
            <a:endParaRPr lang="en-US" sz="900" dirty="0"/>
          </a:p>
        </p:txBody>
      </p:sp>
      <p:sp>
        <p:nvSpPr>
          <p:cNvPr id="20" name="Text 18"/>
          <p:cNvSpPr/>
          <p:nvPr/>
        </p:nvSpPr>
        <p:spPr>
          <a:xfrm>
            <a:off x="2958803" y="3037804"/>
            <a:ext cx="640080" cy="365760"/>
          </a:xfrm>
          <a:prstGeom prst="rect">
            <a:avLst/>
          </a:prstGeom>
          <a:noFill/>
          <a:ln/>
        </p:spPr>
        <p:txBody>
          <a:bodyPr wrap="square" lIns="0" tIns="0" rIns="0" bIns="0" rtlCol="0" anchor="ctr"/>
          <a:lstStyle/>
          <a:p>
            <a:pPr algn="ctr" indent="0" marL="0">
              <a:buNone/>
            </a:pPr>
            <a:r>
              <a:rPr lang="en-US" sz="900" b="1" dirty="0">
                <a:solidFill>
                  <a:srgbClr val="1B4332"/>
                </a:solidFill>
                <a:latin typeface="Calibri" pitchFamily="34" charset="0"/>
                <a:ea typeface="Calibri" pitchFamily="34" charset="-122"/>
                <a:cs typeface="Calibri" pitchFamily="34" charset="-120"/>
              </a:rPr>
              <a:t>AFR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Layer 2: Carbon Pricing</a:t>
            </a:r>
            <a:endParaRPr lang="en-US" sz="2400" dirty="0"/>
          </a:p>
        </p:txBody>
      </p:sp>
      <p:sp>
        <p:nvSpPr>
          <p:cNvPr id="4" name="Shape 2"/>
          <p:cNvSpPr/>
          <p:nvPr/>
        </p:nvSpPr>
        <p:spPr>
          <a:xfrm>
            <a:off x="640080" y="1097280"/>
            <a:ext cx="3749040" cy="1645920"/>
          </a:xfrm>
          <a:prstGeom prst="roundRect">
            <a:avLst>
              <a:gd name="adj" fmla="val 5556"/>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822960" y="1188720"/>
            <a:ext cx="3383280" cy="365760"/>
          </a:xfrm>
          <a:prstGeom prst="rect">
            <a:avLst/>
          </a:prstGeom>
          <a:noFill/>
          <a:ln/>
        </p:spPr>
        <p:txBody>
          <a:bodyPr wrap="square" lIns="0" tIns="0" rIns="0" bIns="0" rtlCol="0" anchor="ctr"/>
          <a:lstStyle/>
          <a:p>
            <a:pPr indent="0" marL="0">
              <a:buNone/>
            </a:pPr>
            <a:r>
              <a:rPr lang="en-US" sz="1400" b="1" dirty="0">
                <a:solidFill>
                  <a:srgbClr val="1B4332"/>
                </a:solidFill>
                <a:latin typeface="Calibri" pitchFamily="34" charset="0"/>
                <a:ea typeface="Calibri" pitchFamily="34" charset="-122"/>
                <a:cs typeface="Calibri" pitchFamily="34" charset="-120"/>
              </a:rPr>
              <a:t>Nordhaus DICE Model (2018 Nobel)</a:t>
            </a:r>
            <a:endParaRPr lang="en-US" sz="1400" dirty="0"/>
          </a:p>
        </p:txBody>
      </p:sp>
      <p:sp>
        <p:nvSpPr>
          <p:cNvPr id="6" name="Text 4"/>
          <p:cNvSpPr/>
          <p:nvPr/>
        </p:nvSpPr>
        <p:spPr>
          <a:xfrm>
            <a:off x="822960" y="1554480"/>
            <a:ext cx="3383280" cy="100584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Carbon tax as abatement cost instrument.</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Pricing emissions shifts investment incentives.</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Tax never directly removes CO₂ — it changes</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behaviour by making pollution expensive.</a:t>
            </a:r>
            <a:endParaRPr lang="en-US" sz="1200" dirty="0"/>
          </a:p>
        </p:txBody>
      </p:sp>
      <p:sp>
        <p:nvSpPr>
          <p:cNvPr id="7" name="Shape 5"/>
          <p:cNvSpPr/>
          <p:nvPr/>
        </p:nvSpPr>
        <p:spPr>
          <a:xfrm>
            <a:off x="4754880" y="1097280"/>
            <a:ext cx="3749040" cy="1645920"/>
          </a:xfrm>
          <a:prstGeom prst="roundRect">
            <a:avLst>
              <a:gd name="adj" fmla="val 5556"/>
            </a:avLst>
          </a:prstGeom>
          <a:solidFill>
            <a:srgbClr val="D8F3DC"/>
          </a:solidFill>
          <a:ln/>
          <a:effectLst>
            <a:outerShdw sx="100000" sy="100000" kx="0" ky="0" algn="bl" rotWithShape="0" blurRad="101600" dist="38100" dir="2700000">
              <a:srgbClr val="000000">
                <a:alpha val="12000"/>
              </a:srgbClr>
            </a:outerShdw>
          </a:effectLst>
        </p:spPr>
      </p:sp>
      <p:sp>
        <p:nvSpPr>
          <p:cNvPr id="8" name="Text 6"/>
          <p:cNvSpPr/>
          <p:nvPr/>
        </p:nvSpPr>
        <p:spPr>
          <a:xfrm>
            <a:off x="4937760" y="1188720"/>
            <a:ext cx="3383280" cy="365760"/>
          </a:xfrm>
          <a:prstGeom prst="rect">
            <a:avLst/>
          </a:prstGeom>
          <a:noFill/>
          <a:ln/>
        </p:spPr>
        <p:txBody>
          <a:bodyPr wrap="square" lIns="0" tIns="0" rIns="0" bIns="0"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Game Mechanic</a:t>
            </a:r>
            <a:endParaRPr lang="en-US" sz="1400" dirty="0"/>
          </a:p>
        </p:txBody>
      </p:sp>
      <p:sp>
        <p:nvSpPr>
          <p:cNvPr id="9" name="Text 7"/>
          <p:cNvSpPr/>
          <p:nvPr/>
        </p:nvSpPr>
        <p:spPr>
          <a:xfrm>
            <a:off x="4937760" y="1554480"/>
            <a:ext cx="3383280" cy="100584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Each country sets tax rate 0–100.</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Collects money proportional to national emissions.</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Tax does NOT reduce CO₂ directly.</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Players must physically replace fossil → green.</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Higher tax = more revenue but economic drag.</a:t>
            </a:r>
            <a:endParaRPr lang="en-US" sz="1200" dirty="0"/>
          </a:p>
        </p:txBody>
      </p:sp>
      <p:sp>
        <p:nvSpPr>
          <p:cNvPr id="10" name="Shape 8"/>
          <p:cNvSpPr/>
          <p:nvPr/>
        </p:nvSpPr>
        <p:spPr>
          <a:xfrm>
            <a:off x="1371600" y="3108960"/>
            <a:ext cx="6400800" cy="1463040"/>
          </a:xfrm>
          <a:prstGeom prst="roundRect">
            <a:avLst>
              <a:gd name="adj" fmla="val 6250"/>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1554480" y="3200400"/>
            <a:ext cx="274320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Carbon Tax Rate</a:t>
            </a:r>
            <a:endParaRPr lang="en-US" sz="1400" dirty="0"/>
          </a:p>
        </p:txBody>
      </p:sp>
      <p:sp>
        <p:nvSpPr>
          <p:cNvPr id="12" name="Shape 10"/>
          <p:cNvSpPr/>
          <p:nvPr/>
        </p:nvSpPr>
        <p:spPr>
          <a:xfrm>
            <a:off x="1554480" y="3749040"/>
            <a:ext cx="6035040" cy="137160"/>
          </a:xfrm>
          <a:prstGeom prst="roundRect">
            <a:avLst>
              <a:gd name="adj" fmla="val 33333"/>
            </a:avLst>
          </a:prstGeom>
          <a:solidFill>
            <a:srgbClr val="D8F3DC"/>
          </a:solidFill>
          <a:ln/>
        </p:spPr>
      </p:sp>
      <p:sp>
        <p:nvSpPr>
          <p:cNvPr id="13" name="Shape 11"/>
          <p:cNvSpPr/>
          <p:nvPr/>
        </p:nvSpPr>
        <p:spPr>
          <a:xfrm>
            <a:off x="1554480" y="3749040"/>
            <a:ext cx="3017520" cy="137160"/>
          </a:xfrm>
          <a:prstGeom prst="roundRect">
            <a:avLst>
              <a:gd name="adj" fmla="val 33333"/>
            </a:avLst>
          </a:prstGeom>
          <a:solidFill>
            <a:srgbClr val="40916C"/>
          </a:solidFill>
          <a:ln/>
        </p:spPr>
      </p:sp>
      <p:sp>
        <p:nvSpPr>
          <p:cNvPr id="14" name="Shape 12"/>
          <p:cNvSpPr/>
          <p:nvPr/>
        </p:nvSpPr>
        <p:spPr>
          <a:xfrm>
            <a:off x="4434840" y="3639312"/>
            <a:ext cx="320040" cy="320040"/>
          </a:xfrm>
          <a:prstGeom prst="ellipse">
            <a:avLst/>
          </a:prstGeom>
          <a:solidFill>
            <a:srgbClr val="2D6A4F"/>
          </a:solidFill>
          <a:ln/>
        </p:spPr>
      </p:sp>
      <p:sp>
        <p:nvSpPr>
          <p:cNvPr id="15" name="Text 13"/>
          <p:cNvSpPr/>
          <p:nvPr/>
        </p:nvSpPr>
        <p:spPr>
          <a:xfrm>
            <a:off x="1554480" y="3977640"/>
            <a:ext cx="457200" cy="274320"/>
          </a:xfrm>
          <a:prstGeom prst="rect">
            <a:avLst/>
          </a:prstGeom>
          <a:noFill/>
          <a:ln/>
        </p:spPr>
        <p:txBody>
          <a:bodyPr wrap="square" lIns="0" tIns="0" rIns="0" bIns="0" rtlCol="0" anchor="ctr"/>
          <a:lstStyle/>
          <a:p>
            <a:pPr indent="0" marL="0">
              <a:buNone/>
            </a:pPr>
            <a:r>
              <a:rPr lang="en-US" sz="1100" dirty="0">
                <a:solidFill>
                  <a:srgbClr val="6C757D"/>
                </a:solidFill>
              </a:rPr>
              <a:t>0</a:t>
            </a:r>
            <a:endParaRPr lang="en-US" sz="1100" dirty="0"/>
          </a:p>
        </p:txBody>
      </p:sp>
      <p:sp>
        <p:nvSpPr>
          <p:cNvPr id="16" name="Text 14"/>
          <p:cNvSpPr/>
          <p:nvPr/>
        </p:nvSpPr>
        <p:spPr>
          <a:xfrm>
            <a:off x="4297680" y="3977640"/>
            <a:ext cx="457200" cy="274320"/>
          </a:xfrm>
          <a:prstGeom prst="rect">
            <a:avLst/>
          </a:prstGeom>
          <a:noFill/>
          <a:ln/>
        </p:spPr>
        <p:txBody>
          <a:bodyPr wrap="square" lIns="0" tIns="0" rIns="0" bIns="0" rtlCol="0" anchor="ctr"/>
          <a:lstStyle/>
          <a:p>
            <a:pPr indent="0" marL="0">
              <a:buNone/>
            </a:pPr>
            <a:r>
              <a:rPr lang="en-US" sz="1100" b="1" dirty="0">
                <a:solidFill>
                  <a:srgbClr val="2D6A4F"/>
                </a:solidFill>
              </a:rPr>
              <a:t>50</a:t>
            </a:r>
            <a:endParaRPr lang="en-US" sz="1100" dirty="0"/>
          </a:p>
        </p:txBody>
      </p:sp>
      <p:sp>
        <p:nvSpPr>
          <p:cNvPr id="17" name="Text 15"/>
          <p:cNvSpPr/>
          <p:nvPr/>
        </p:nvSpPr>
        <p:spPr>
          <a:xfrm>
            <a:off x="7223760" y="3977640"/>
            <a:ext cx="457200" cy="274320"/>
          </a:xfrm>
          <a:prstGeom prst="rect">
            <a:avLst/>
          </a:prstGeom>
          <a:noFill/>
          <a:ln/>
        </p:spPr>
        <p:txBody>
          <a:bodyPr wrap="square" lIns="0" tIns="0" rIns="0" bIns="0" rtlCol="0" anchor="ctr"/>
          <a:lstStyle/>
          <a:p>
            <a:pPr algn="r" indent="0" marL="0">
              <a:buNone/>
            </a:pPr>
            <a:r>
              <a:rPr lang="en-US" sz="1100" dirty="0">
                <a:solidFill>
                  <a:srgbClr val="6C757D"/>
                </a:solidFill>
              </a:rPr>
              <a:t>100</a:t>
            </a:r>
            <a:endParaRPr lang="en-US" sz="1100" dirty="0"/>
          </a:p>
        </p:txBody>
      </p:sp>
      <p:sp>
        <p:nvSpPr>
          <p:cNvPr id="18" name="Text 16"/>
          <p:cNvSpPr/>
          <p:nvPr/>
        </p:nvSpPr>
        <p:spPr>
          <a:xfrm>
            <a:off x="1554480" y="4206240"/>
            <a:ext cx="6035040" cy="274320"/>
          </a:xfrm>
          <a:prstGeom prst="rect">
            <a:avLst/>
          </a:prstGeom>
          <a:noFill/>
          <a:ln/>
        </p:spPr>
        <p:txBody>
          <a:bodyPr wrap="square" lIns="0" tIns="0" rIns="0" bIns="0" rtlCol="0" anchor="ctr"/>
          <a:lstStyle/>
          <a:p>
            <a:pPr indent="0" marL="0">
              <a:buNone/>
            </a:pPr>
            <a:r>
              <a:rPr lang="en-US" sz="1200" dirty="0">
                <a:solidFill>
                  <a:srgbClr val="40916C"/>
                </a:solidFill>
                <a:latin typeface="Calibri" pitchFamily="34" charset="0"/>
                <a:ea typeface="Calibri" pitchFamily="34" charset="-122"/>
                <a:cs typeface="Calibri" pitchFamily="34" charset="-120"/>
              </a:rPr>
              <a:t>Revenue collected this cycle: +25 money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Layer 3: Revenue Recycling</a:t>
            </a:r>
            <a:endParaRPr lang="en-US" sz="2400" dirty="0"/>
          </a:p>
        </p:txBody>
      </p:sp>
      <p:sp>
        <p:nvSpPr>
          <p:cNvPr id="4" name="Shape 2"/>
          <p:cNvSpPr/>
          <p:nvPr/>
        </p:nvSpPr>
        <p:spPr>
          <a:xfrm>
            <a:off x="640080" y="1097280"/>
            <a:ext cx="7863840" cy="1188720"/>
          </a:xfrm>
          <a:prstGeom prst="roundRect">
            <a:avLst>
              <a:gd name="adj" fmla="val 7692"/>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822960" y="1188720"/>
            <a:ext cx="7498080" cy="365760"/>
          </a:xfrm>
          <a:prstGeom prst="rect">
            <a:avLst/>
          </a:prstGeom>
          <a:noFill/>
          <a:ln/>
        </p:spPr>
        <p:txBody>
          <a:bodyPr wrap="square" lIns="0" tIns="0" rIns="0" bIns="0" rtlCol="0" anchor="ctr"/>
          <a:lstStyle/>
          <a:p>
            <a:pPr indent="0" marL="0">
              <a:buNone/>
            </a:pPr>
            <a:r>
              <a:rPr lang="en-US" sz="1400" b="1" dirty="0">
                <a:solidFill>
                  <a:srgbClr val="1B4332"/>
                </a:solidFill>
                <a:latin typeface="Calibri" pitchFamily="34" charset="0"/>
                <a:ea typeface="Calibri" pitchFamily="34" charset="-122"/>
                <a:cs typeface="Calibri" pitchFamily="34" charset="-120"/>
              </a:rPr>
              <a:t>Goulder (1995) Double Dividend Hypothesis</a:t>
            </a:r>
            <a:endParaRPr lang="en-US" sz="1400" dirty="0"/>
          </a:p>
        </p:txBody>
      </p:sp>
      <p:sp>
        <p:nvSpPr>
          <p:cNvPr id="6" name="Text 4"/>
          <p:cNvSpPr/>
          <p:nvPr/>
        </p:nvSpPr>
        <p:spPr>
          <a:xfrm>
            <a:off x="822960" y="1554480"/>
            <a:ext cx="7498080" cy="54864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How you spend carbon tax revenue determines whether the tax helps or hurts the economy.</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Meta-analysis of 69 CGE simulations (Freire-González 2018) confirms: recycling method matters more than tax level.</a:t>
            </a:r>
            <a:endParaRPr lang="en-US" sz="1200" dirty="0"/>
          </a:p>
        </p:txBody>
      </p:sp>
      <p:sp>
        <p:nvSpPr>
          <p:cNvPr id="7" name="Shape 5"/>
          <p:cNvSpPr/>
          <p:nvPr/>
        </p:nvSpPr>
        <p:spPr>
          <a:xfrm>
            <a:off x="640080" y="2560320"/>
            <a:ext cx="256032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8" name="Shape 6"/>
          <p:cNvSpPr/>
          <p:nvPr/>
        </p:nvSpPr>
        <p:spPr>
          <a:xfrm>
            <a:off x="1600200" y="2697480"/>
            <a:ext cx="640080" cy="640080"/>
          </a:xfrm>
          <a:prstGeom prst="ellipse">
            <a:avLst/>
          </a:prstGeom>
          <a:solidFill>
            <a:srgbClr val="F4A261"/>
          </a:solidFill>
          <a:ln/>
        </p:spPr>
      </p:sp>
      <p:sp>
        <p:nvSpPr>
          <p:cNvPr id="9" name="Text 7"/>
          <p:cNvSpPr/>
          <p:nvPr/>
        </p:nvSpPr>
        <p:spPr>
          <a:xfrm>
            <a:off x="1600200" y="26974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0" name="Text 8"/>
          <p:cNvSpPr/>
          <p:nvPr/>
        </p:nvSpPr>
        <p:spPr>
          <a:xfrm>
            <a:off x="777240" y="3383280"/>
            <a:ext cx="2286000" cy="365760"/>
          </a:xfrm>
          <a:prstGeom prst="rect">
            <a:avLst/>
          </a:prstGeom>
          <a:noFill/>
          <a:ln/>
        </p:spPr>
        <p:txBody>
          <a:bodyPr wrap="square" lIns="0" tIns="0" rIns="0" bIns="0" rtlCol="0" anchor="ctr"/>
          <a:lstStyle/>
          <a:p>
            <a:pPr algn="ctr" indent="0" marL="0">
              <a:buNone/>
            </a:pPr>
            <a:r>
              <a:rPr lang="en-US" sz="1400" b="1" dirty="0">
                <a:solidFill>
                  <a:srgbClr val="F4A261"/>
                </a:solidFill>
                <a:latin typeface="Calibri" pitchFamily="34" charset="0"/>
                <a:ea typeface="Calibri" pitchFamily="34" charset="-122"/>
                <a:cs typeface="Calibri" pitchFamily="34" charset="-120"/>
              </a:rPr>
              <a:t>Citizen Dividend</a:t>
            </a:r>
            <a:endParaRPr lang="en-US" sz="1400" dirty="0"/>
          </a:p>
        </p:txBody>
      </p:sp>
      <p:sp>
        <p:nvSpPr>
          <p:cNvPr id="11" name="Text 9"/>
          <p:cNvSpPr/>
          <p:nvPr/>
        </p:nvSpPr>
        <p:spPr>
          <a:xfrm>
            <a:off x="777240" y="3749040"/>
            <a:ext cx="2286000" cy="822960"/>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Lump-sum to citizens</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+Happiness bonus</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Politically popular</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Least efficient (Fed 2021)</a:t>
            </a:r>
            <a:endParaRPr lang="en-US" sz="1100" dirty="0"/>
          </a:p>
        </p:txBody>
      </p:sp>
      <p:sp>
        <p:nvSpPr>
          <p:cNvPr id="12" name="Shape 10"/>
          <p:cNvSpPr/>
          <p:nvPr/>
        </p:nvSpPr>
        <p:spPr>
          <a:xfrm>
            <a:off x="3383280" y="2560320"/>
            <a:ext cx="256032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13" name="Shape 11"/>
          <p:cNvSpPr/>
          <p:nvPr/>
        </p:nvSpPr>
        <p:spPr>
          <a:xfrm>
            <a:off x="4343400" y="2697480"/>
            <a:ext cx="640080" cy="640080"/>
          </a:xfrm>
          <a:prstGeom prst="ellipse">
            <a:avLst/>
          </a:prstGeom>
          <a:solidFill>
            <a:srgbClr val="40916C"/>
          </a:solidFill>
          <a:ln/>
        </p:spPr>
      </p:sp>
      <p:sp>
        <p:nvSpPr>
          <p:cNvPr id="14" name="Text 12"/>
          <p:cNvSpPr/>
          <p:nvPr/>
        </p:nvSpPr>
        <p:spPr>
          <a:xfrm>
            <a:off x="4343400" y="26974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5" name="Text 13"/>
          <p:cNvSpPr/>
          <p:nvPr/>
        </p:nvSpPr>
        <p:spPr>
          <a:xfrm>
            <a:off x="3520440" y="3383280"/>
            <a:ext cx="2286000" cy="365760"/>
          </a:xfrm>
          <a:prstGeom prst="rect">
            <a:avLst/>
          </a:prstGeom>
          <a:noFill/>
          <a:ln/>
        </p:spPr>
        <p:txBody>
          <a:bodyPr wrap="square" lIns="0" tIns="0" rIns="0" bIns="0" rtlCol="0" anchor="ctr"/>
          <a:lstStyle/>
          <a:p>
            <a:pPr algn="ctr" indent="0" marL="0">
              <a:buNone/>
            </a:pPr>
            <a:r>
              <a:rPr lang="en-US" sz="1400" b="1" dirty="0">
                <a:solidFill>
                  <a:srgbClr val="40916C"/>
                </a:solidFill>
                <a:latin typeface="Calibri" pitchFamily="34" charset="0"/>
                <a:ea typeface="Calibri" pitchFamily="34" charset="-122"/>
                <a:cs typeface="Calibri" pitchFamily="34" charset="-120"/>
              </a:rPr>
              <a:t>Green Subsidy</a:t>
            </a:r>
            <a:endParaRPr lang="en-US" sz="1400" dirty="0"/>
          </a:p>
        </p:txBody>
      </p:sp>
      <p:sp>
        <p:nvSpPr>
          <p:cNvPr id="16" name="Text 14"/>
          <p:cNvSpPr/>
          <p:nvPr/>
        </p:nvSpPr>
        <p:spPr>
          <a:xfrm>
            <a:off x="3520440" y="3749040"/>
            <a:ext cx="2286000" cy="822960"/>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Reduce green build costs</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Accelerates transition</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Most efficient per CGE</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Long-term payoff</a:t>
            </a:r>
            <a:endParaRPr lang="en-US" sz="1100" dirty="0"/>
          </a:p>
        </p:txBody>
      </p:sp>
      <p:sp>
        <p:nvSpPr>
          <p:cNvPr id="17" name="Shape 15"/>
          <p:cNvSpPr/>
          <p:nvPr/>
        </p:nvSpPr>
        <p:spPr>
          <a:xfrm>
            <a:off x="6126480" y="2560320"/>
            <a:ext cx="256032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18" name="Shape 16"/>
          <p:cNvSpPr/>
          <p:nvPr/>
        </p:nvSpPr>
        <p:spPr>
          <a:xfrm>
            <a:off x="7086600" y="2697480"/>
            <a:ext cx="640080" cy="640080"/>
          </a:xfrm>
          <a:prstGeom prst="ellipse">
            <a:avLst/>
          </a:prstGeom>
          <a:solidFill>
            <a:srgbClr val="2D6A4F"/>
          </a:solidFill>
          <a:ln/>
        </p:spPr>
      </p:sp>
      <p:sp>
        <p:nvSpPr>
          <p:cNvPr id="19" name="Text 17"/>
          <p:cNvSpPr/>
          <p:nvPr/>
        </p:nvSpPr>
        <p:spPr>
          <a:xfrm>
            <a:off x="7086600" y="26974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0" name="Text 18"/>
          <p:cNvSpPr/>
          <p:nvPr/>
        </p:nvSpPr>
        <p:spPr>
          <a:xfrm>
            <a:off x="6263640" y="3383280"/>
            <a:ext cx="2286000" cy="365760"/>
          </a:xfrm>
          <a:prstGeom prst="rect">
            <a:avLst/>
          </a:prstGeom>
          <a:noFill/>
          <a:ln/>
        </p:spPr>
        <p:txBody>
          <a:bodyPr wrap="square" lIns="0" tIns="0" rIns="0" bIns="0" rtlCol="0" anchor="ctr"/>
          <a:lstStyle/>
          <a:p>
            <a:pPr algn="ctr" indent="0" marL="0">
              <a:buNone/>
            </a:pPr>
            <a:r>
              <a:rPr lang="en-US" sz="1400" b="1" dirty="0">
                <a:solidFill>
                  <a:srgbClr val="2D6A4F"/>
                </a:solidFill>
                <a:latin typeface="Calibri" pitchFamily="34" charset="0"/>
                <a:ea typeface="Calibri" pitchFamily="34" charset="-122"/>
                <a:cs typeface="Calibri" pitchFamily="34" charset="-120"/>
              </a:rPr>
              <a:t>Climate Finance</a:t>
            </a:r>
            <a:endParaRPr lang="en-US" sz="1400" dirty="0"/>
          </a:p>
        </p:txBody>
      </p:sp>
      <p:sp>
        <p:nvSpPr>
          <p:cNvPr id="21" name="Text 19"/>
          <p:cNvSpPr/>
          <p:nvPr/>
        </p:nvSpPr>
        <p:spPr>
          <a:xfrm>
            <a:off x="6263640" y="3749040"/>
            <a:ext cx="2286000" cy="822960"/>
          </a:xfrm>
          <a:prstGeom prst="rect">
            <a:avLst/>
          </a:prstGeom>
          <a:noFill/>
          <a:ln/>
        </p:spPr>
        <p:txBody>
          <a:bodyPr wrap="square" lIns="0" tIns="0" rIns="0" bIns="0"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Transfer to poor countries</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Models Cancún $100B pledge</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Builds relations</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Helps developing nations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Layer 4: Domestic Politics</a:t>
            </a:r>
            <a:endParaRPr lang="en-US" sz="2400" dirty="0"/>
          </a:p>
        </p:txBody>
      </p:sp>
      <p:sp>
        <p:nvSpPr>
          <p:cNvPr id="4" name="Shape 2"/>
          <p:cNvSpPr/>
          <p:nvPr/>
        </p:nvSpPr>
        <p:spPr>
          <a:xfrm>
            <a:off x="640080" y="1097280"/>
            <a:ext cx="3749040" cy="2011680"/>
          </a:xfrm>
          <a:prstGeom prst="roundRect">
            <a:avLst>
              <a:gd name="adj" fmla="val 4545"/>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822960" y="1188720"/>
            <a:ext cx="3383280" cy="365760"/>
          </a:xfrm>
          <a:prstGeom prst="rect">
            <a:avLst/>
          </a:prstGeom>
          <a:noFill/>
          <a:ln/>
        </p:spPr>
        <p:txBody>
          <a:bodyPr wrap="square" lIns="0" tIns="0" rIns="0" bIns="0" rtlCol="0" anchor="ctr"/>
          <a:lstStyle/>
          <a:p>
            <a:pPr indent="0" marL="0">
              <a:buNone/>
            </a:pPr>
            <a:r>
              <a:rPr lang="en-US" sz="1400" b="1" dirty="0">
                <a:solidFill>
                  <a:srgbClr val="1B4332"/>
                </a:solidFill>
                <a:latin typeface="Calibri" pitchFamily="34" charset="0"/>
                <a:ea typeface="Calibri" pitchFamily="34" charset="-122"/>
                <a:cs typeface="Calibri" pitchFamily="34" charset="-120"/>
              </a:rPr>
              <a:t>Putnam (1988) Two-Level Games</a:t>
            </a:r>
            <a:endParaRPr lang="en-US" sz="1400" dirty="0"/>
          </a:p>
        </p:txBody>
      </p:sp>
      <p:sp>
        <p:nvSpPr>
          <p:cNvPr id="6" name="Text 4"/>
          <p:cNvSpPr/>
          <p:nvPr/>
        </p:nvSpPr>
        <p:spPr>
          <a:xfrm>
            <a:off x="822960" y="1554480"/>
            <a:ext cx="3383280" cy="137160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International negotiation (Level I) is constrained</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by domestic political feasibility (Level II).</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Leaders must satisfy both international</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partners AND domestic constituents.</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What's optimal internationally may be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politically impossible at home.</a:t>
            </a:r>
            <a:endParaRPr lang="en-US" sz="1200" dirty="0"/>
          </a:p>
        </p:txBody>
      </p:sp>
      <p:sp>
        <p:nvSpPr>
          <p:cNvPr id="7" name="Shape 5"/>
          <p:cNvSpPr/>
          <p:nvPr/>
        </p:nvSpPr>
        <p:spPr>
          <a:xfrm>
            <a:off x="4754880" y="1097280"/>
            <a:ext cx="3749040" cy="2011680"/>
          </a:xfrm>
          <a:prstGeom prst="roundRect">
            <a:avLst>
              <a:gd name="adj" fmla="val 4545"/>
            </a:avLst>
          </a:prstGeom>
          <a:solidFill>
            <a:srgbClr val="D8F3DC"/>
          </a:solidFill>
          <a:ln/>
          <a:effectLst>
            <a:outerShdw sx="100000" sy="100000" kx="0" ky="0" algn="bl" rotWithShape="0" blurRad="101600" dist="38100" dir="2700000">
              <a:srgbClr val="000000">
                <a:alpha val="12000"/>
              </a:srgbClr>
            </a:outerShdw>
          </a:effectLst>
        </p:spPr>
      </p:sp>
      <p:sp>
        <p:nvSpPr>
          <p:cNvPr id="8" name="Text 6"/>
          <p:cNvSpPr/>
          <p:nvPr/>
        </p:nvSpPr>
        <p:spPr>
          <a:xfrm>
            <a:off x="4937760" y="1188720"/>
            <a:ext cx="3383280" cy="365760"/>
          </a:xfrm>
          <a:prstGeom prst="rect">
            <a:avLst/>
          </a:prstGeom>
          <a:noFill/>
          <a:ln/>
        </p:spPr>
        <p:txBody>
          <a:bodyPr wrap="square" lIns="0" tIns="0" rIns="0" bIns="0"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Game Mechanic: Factions</a:t>
            </a:r>
            <a:endParaRPr lang="en-US" sz="1400" dirty="0"/>
          </a:p>
        </p:txBody>
      </p:sp>
      <p:sp>
        <p:nvSpPr>
          <p:cNvPr id="9" name="Text 7"/>
          <p:cNvSpPr/>
          <p:nvPr/>
        </p:nvSpPr>
        <p:spPr>
          <a:xfrm>
            <a:off x="4937760" y="1554480"/>
            <a:ext cx="3383280" cy="137160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Each country has Brown + Green factions.</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Faction ratios from real data (Mezzanotti &amp;</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Starkman, CEPR DP20578).</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Building fossil → Brown happy, Green angry</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Building green → Green happy, Brown angry</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Faction satisfaction → National happiness</a:t>
            </a:r>
            <a:endParaRPr lang="en-US" sz="1200" dirty="0"/>
          </a:p>
        </p:txBody>
      </p:sp>
      <p:sp>
        <p:nvSpPr>
          <p:cNvPr id="10" name="Shape 8"/>
          <p:cNvSpPr/>
          <p:nvPr/>
        </p:nvSpPr>
        <p:spPr>
          <a:xfrm>
            <a:off x="640080" y="3383280"/>
            <a:ext cx="7863840" cy="1371600"/>
          </a:xfrm>
          <a:prstGeom prst="roundRect">
            <a:avLst>
              <a:gd name="adj" fmla="val 6667"/>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822960" y="3474720"/>
            <a:ext cx="3657600" cy="32004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Example: OPEC Faction Split</a:t>
            </a:r>
            <a:endParaRPr lang="en-US" sz="1300" dirty="0"/>
          </a:p>
        </p:txBody>
      </p:sp>
      <p:sp>
        <p:nvSpPr>
          <p:cNvPr id="12" name="Shape 10"/>
          <p:cNvSpPr/>
          <p:nvPr/>
        </p:nvSpPr>
        <p:spPr>
          <a:xfrm>
            <a:off x="822960" y="3886200"/>
            <a:ext cx="5266944" cy="320040"/>
          </a:xfrm>
          <a:prstGeom prst="roundRect">
            <a:avLst>
              <a:gd name="adj" fmla="val 14286"/>
            </a:avLst>
          </a:prstGeom>
          <a:solidFill>
            <a:srgbClr val="8B4513"/>
          </a:solidFill>
          <a:ln/>
        </p:spPr>
      </p:sp>
      <p:sp>
        <p:nvSpPr>
          <p:cNvPr id="13" name="Text 11"/>
          <p:cNvSpPr/>
          <p:nvPr/>
        </p:nvSpPr>
        <p:spPr>
          <a:xfrm>
            <a:off x="822960" y="3886200"/>
            <a:ext cx="52669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Brown 90%</a:t>
            </a:r>
            <a:endParaRPr lang="en-US" sz="1200" dirty="0"/>
          </a:p>
        </p:txBody>
      </p:sp>
      <p:sp>
        <p:nvSpPr>
          <p:cNvPr id="14" name="Shape 12"/>
          <p:cNvSpPr/>
          <p:nvPr/>
        </p:nvSpPr>
        <p:spPr>
          <a:xfrm>
            <a:off x="6126480" y="3886200"/>
            <a:ext cx="585216" cy="320040"/>
          </a:xfrm>
          <a:prstGeom prst="roundRect">
            <a:avLst>
              <a:gd name="adj" fmla="val 14286"/>
            </a:avLst>
          </a:prstGeom>
          <a:solidFill>
            <a:srgbClr val="40916C"/>
          </a:solidFill>
          <a:ln/>
        </p:spPr>
      </p:sp>
      <p:sp>
        <p:nvSpPr>
          <p:cNvPr id="15" name="Text 13"/>
          <p:cNvSpPr/>
          <p:nvPr/>
        </p:nvSpPr>
        <p:spPr>
          <a:xfrm>
            <a:off x="6126480" y="3886200"/>
            <a:ext cx="585216"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16" name="Text 14"/>
          <p:cNvSpPr/>
          <p:nvPr/>
        </p:nvSpPr>
        <p:spPr>
          <a:xfrm>
            <a:off x="822960" y="4297680"/>
            <a:ext cx="6766560" cy="365760"/>
          </a:xfrm>
          <a:prstGeom prst="rect">
            <a:avLst/>
          </a:prstGeom>
          <a:noFill/>
          <a:ln/>
        </p:spPr>
        <p:txBody>
          <a:bodyPr wrap="square" lIns="0" tIns="0" rIns="0" bIns="0" rtlCol="0" anchor="ctr"/>
          <a:lstStyle/>
          <a:p>
            <a:pPr indent="0" marL="0">
              <a:buNone/>
            </a:pPr>
            <a:r>
              <a:rPr lang="en-US" sz="1100" i="1" dirty="0">
                <a:solidFill>
                  <a:srgbClr val="6C757D"/>
                </a:solidFill>
                <a:latin typeface="Calibri" pitchFamily="34" charset="0"/>
                <a:ea typeface="Calibri" pitchFamily="34" charset="-122"/>
                <a:cs typeface="Calibri" pitchFamily="34" charset="-120"/>
              </a:rPr>
              <a:t>→ Any carbon tax devastates OPEC's domestic happiness. The player is trapped by their own faction structure.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Layer 5: Planetary Boundaries &amp; Doughnut Economics</a:t>
            </a:r>
            <a:endParaRPr lang="en-US" sz="2400" dirty="0"/>
          </a:p>
        </p:txBody>
      </p:sp>
      <p:sp>
        <p:nvSpPr>
          <p:cNvPr id="4" name="Shape 2"/>
          <p:cNvSpPr/>
          <p:nvPr/>
        </p:nvSpPr>
        <p:spPr>
          <a:xfrm>
            <a:off x="640080" y="1097280"/>
            <a:ext cx="3749040" cy="1828800"/>
          </a:xfrm>
          <a:prstGeom prst="roundRect">
            <a:avLst>
              <a:gd name="adj" fmla="val 5000"/>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822960" y="1188720"/>
            <a:ext cx="3383280" cy="365760"/>
          </a:xfrm>
          <a:prstGeom prst="rect">
            <a:avLst/>
          </a:prstGeom>
          <a:noFill/>
          <a:ln/>
        </p:spPr>
        <p:txBody>
          <a:bodyPr wrap="square" lIns="0" tIns="0" rIns="0" bIns="0" rtlCol="0" anchor="ctr"/>
          <a:lstStyle/>
          <a:p>
            <a:pPr indent="0" marL="0">
              <a:buNone/>
            </a:pPr>
            <a:r>
              <a:rPr lang="en-US" sz="1400" b="1" dirty="0">
                <a:solidFill>
                  <a:srgbClr val="1B4332"/>
                </a:solidFill>
                <a:latin typeface="Calibri" pitchFamily="34" charset="0"/>
                <a:ea typeface="Calibri" pitchFamily="34" charset="-122"/>
                <a:cs typeface="Calibri" pitchFamily="34" charset="-120"/>
              </a:rPr>
              <a:t>Rockström (2009) + Richardson (2023)</a:t>
            </a:r>
            <a:endParaRPr lang="en-US" sz="1400" dirty="0"/>
          </a:p>
        </p:txBody>
      </p:sp>
      <p:sp>
        <p:nvSpPr>
          <p:cNvPr id="6" name="Text 4"/>
          <p:cNvSpPr/>
          <p:nvPr/>
        </p:nvSpPr>
        <p:spPr>
          <a:xfrm>
            <a:off x="822960" y="1554480"/>
            <a:ext cx="3383280" cy="118872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9 Earth system boundaries define a safe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operating space for humanity.</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6 of 9 boundaries already crossed.</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Breaching triggers cascading effects.</a:t>
            </a:r>
            <a:endParaRPr lang="en-US" sz="1200" dirty="0"/>
          </a:p>
        </p:txBody>
      </p:sp>
      <p:sp>
        <p:nvSpPr>
          <p:cNvPr id="7" name="Shape 5"/>
          <p:cNvSpPr/>
          <p:nvPr/>
        </p:nvSpPr>
        <p:spPr>
          <a:xfrm>
            <a:off x="4754880" y="1097280"/>
            <a:ext cx="3749040" cy="1828800"/>
          </a:xfrm>
          <a:prstGeom prst="roundRect">
            <a:avLst>
              <a:gd name="adj" fmla="val 5000"/>
            </a:avLst>
          </a:prstGeom>
          <a:solidFill>
            <a:srgbClr val="D8F3DC"/>
          </a:solidFill>
          <a:ln/>
          <a:effectLst>
            <a:outerShdw sx="100000" sy="100000" kx="0" ky="0" algn="bl" rotWithShape="0" blurRad="101600" dist="38100" dir="2700000">
              <a:srgbClr val="000000">
                <a:alpha val="12000"/>
              </a:srgbClr>
            </a:outerShdw>
          </a:effectLst>
        </p:spPr>
      </p:sp>
      <p:sp>
        <p:nvSpPr>
          <p:cNvPr id="8" name="Text 6"/>
          <p:cNvSpPr/>
          <p:nvPr/>
        </p:nvSpPr>
        <p:spPr>
          <a:xfrm>
            <a:off x="4937760" y="1188720"/>
            <a:ext cx="3383280" cy="365760"/>
          </a:xfrm>
          <a:prstGeom prst="rect">
            <a:avLst/>
          </a:prstGeom>
          <a:noFill/>
          <a:ln/>
        </p:spPr>
        <p:txBody>
          <a:bodyPr wrap="square" lIns="0" tIns="0" rIns="0" bIns="0"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Raworth (2017) Doughnut Economics</a:t>
            </a:r>
            <a:endParaRPr lang="en-US" sz="1400" dirty="0"/>
          </a:p>
        </p:txBody>
      </p:sp>
      <p:sp>
        <p:nvSpPr>
          <p:cNvPr id="9" name="Text 7"/>
          <p:cNvSpPr/>
          <p:nvPr/>
        </p:nvSpPr>
        <p:spPr>
          <a:xfrm>
            <a:off x="4937760" y="1554480"/>
            <a:ext cx="3383280" cy="118872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Ecological ceiling (Rockström) +</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Social foundation = the Doughnut.</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5 boundaries monitored each cycle: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Temperature, CO₂ concentration (ceiling)</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HDI deficit, inequality, instability (floor)</a:t>
            </a:r>
            <a:endParaRPr lang="en-US" sz="1200" dirty="0"/>
          </a:p>
        </p:txBody>
      </p:sp>
      <p:sp>
        <p:nvSpPr>
          <p:cNvPr id="10" name="Shape 8"/>
          <p:cNvSpPr/>
          <p:nvPr/>
        </p:nvSpPr>
        <p:spPr>
          <a:xfrm>
            <a:off x="2286000" y="3200400"/>
            <a:ext cx="2011680" cy="1645920"/>
          </a:xfrm>
          <a:prstGeom prst="ellipse">
            <a:avLst/>
          </a:prstGeom>
          <a:solidFill>
            <a:srgbClr val="E76F51"/>
          </a:solidFill>
          <a:ln/>
        </p:spPr>
      </p:sp>
      <p:sp>
        <p:nvSpPr>
          <p:cNvPr id="11" name="Shape 9"/>
          <p:cNvSpPr/>
          <p:nvPr/>
        </p:nvSpPr>
        <p:spPr>
          <a:xfrm>
            <a:off x="2606040" y="3429000"/>
            <a:ext cx="1371600" cy="1188720"/>
          </a:xfrm>
          <a:prstGeom prst="ellipse">
            <a:avLst/>
          </a:prstGeom>
          <a:solidFill>
            <a:srgbClr val="40916C"/>
          </a:solidFill>
          <a:ln/>
        </p:spPr>
      </p:sp>
      <p:sp>
        <p:nvSpPr>
          <p:cNvPr id="12" name="Shape 10"/>
          <p:cNvSpPr/>
          <p:nvPr/>
        </p:nvSpPr>
        <p:spPr>
          <a:xfrm>
            <a:off x="2880360" y="3611880"/>
            <a:ext cx="822960" cy="731520"/>
          </a:xfrm>
          <a:prstGeom prst="ellipse">
            <a:avLst/>
          </a:prstGeom>
          <a:solidFill>
            <a:srgbClr val="E76F51"/>
          </a:solidFill>
          <a:ln/>
        </p:spPr>
      </p:sp>
      <p:sp>
        <p:nvSpPr>
          <p:cNvPr id="13" name="Text 11"/>
          <p:cNvSpPr/>
          <p:nvPr/>
        </p:nvSpPr>
        <p:spPr>
          <a:xfrm>
            <a:off x="2286000" y="3246120"/>
            <a:ext cx="2011680" cy="274320"/>
          </a:xfrm>
          <a:prstGeom prst="rect">
            <a:avLst/>
          </a:prstGeom>
          <a:noFill/>
          <a:ln/>
        </p:spPr>
        <p:txBody>
          <a:bodyPr wrap="square" lIns="0" tIns="0" rIns="0" bIns="0" rtlCol="0" anchor="ctr"/>
          <a:lstStyle/>
          <a:p>
            <a:pPr algn="ctr" indent="0" marL="0">
              <a:buNone/>
            </a:pPr>
            <a:r>
              <a:rPr lang="en-US" sz="900" dirty="0">
                <a:solidFill>
                  <a:srgbClr val="FFFFFF"/>
                </a:solidFill>
              </a:rPr>
              <a:t>Overshoot</a:t>
            </a:r>
            <a:endParaRPr lang="en-US" sz="900" dirty="0"/>
          </a:p>
        </p:txBody>
      </p:sp>
      <p:sp>
        <p:nvSpPr>
          <p:cNvPr id="14" name="Text 12"/>
          <p:cNvSpPr/>
          <p:nvPr/>
        </p:nvSpPr>
        <p:spPr>
          <a:xfrm>
            <a:off x="2606040" y="379476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rPr>
              <a:t>Safe Space</a:t>
            </a:r>
            <a:endParaRPr lang="en-US" sz="1000" dirty="0"/>
          </a:p>
        </p:txBody>
      </p:sp>
      <p:sp>
        <p:nvSpPr>
          <p:cNvPr id="15" name="Text 13"/>
          <p:cNvSpPr/>
          <p:nvPr/>
        </p:nvSpPr>
        <p:spPr>
          <a:xfrm>
            <a:off x="2880360" y="3657600"/>
            <a:ext cx="822960" cy="274320"/>
          </a:xfrm>
          <a:prstGeom prst="rect">
            <a:avLst/>
          </a:prstGeom>
          <a:noFill/>
          <a:ln/>
        </p:spPr>
        <p:txBody>
          <a:bodyPr wrap="square" lIns="0" tIns="0" rIns="0" bIns="0" rtlCol="0" anchor="ctr"/>
          <a:lstStyle/>
          <a:p>
            <a:pPr algn="ctr" indent="0" marL="0">
              <a:buNone/>
            </a:pPr>
            <a:r>
              <a:rPr lang="en-US" sz="800" dirty="0">
                <a:solidFill>
                  <a:srgbClr val="FFFFFF"/>
                </a:solidFill>
              </a:rPr>
              <a:t>Shortfall</a:t>
            </a:r>
            <a:endParaRPr lang="en-US" sz="800" dirty="0"/>
          </a:p>
        </p:txBody>
      </p:sp>
      <p:sp>
        <p:nvSpPr>
          <p:cNvPr id="16" name="Text 14"/>
          <p:cNvSpPr/>
          <p:nvPr/>
        </p:nvSpPr>
        <p:spPr>
          <a:xfrm>
            <a:off x="4754880" y="3291840"/>
            <a:ext cx="3749040" cy="13716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When boundaries are breached →</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Resolutions auto-trigger.</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Compliance is tracked.</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Non-compliance costs relations.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Layer 6: Pioneer/Laggard Analysis</a:t>
            </a:r>
            <a:endParaRPr lang="en-US" sz="2400" dirty="0"/>
          </a:p>
        </p:txBody>
      </p:sp>
      <p:sp>
        <p:nvSpPr>
          <p:cNvPr id="4" name="Shape 2"/>
          <p:cNvSpPr/>
          <p:nvPr/>
        </p:nvSpPr>
        <p:spPr>
          <a:xfrm>
            <a:off x="640080" y="1097280"/>
            <a:ext cx="3749040" cy="1463040"/>
          </a:xfrm>
          <a:prstGeom prst="roundRect">
            <a:avLst>
              <a:gd name="adj" fmla="val 6250"/>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822960" y="1188720"/>
            <a:ext cx="3383280" cy="365760"/>
          </a:xfrm>
          <a:prstGeom prst="rect">
            <a:avLst/>
          </a:prstGeom>
          <a:noFill/>
          <a:ln/>
        </p:spPr>
        <p:txBody>
          <a:bodyPr wrap="square" lIns="0" tIns="0" rIns="0" bIns="0" rtlCol="0" anchor="ctr"/>
          <a:lstStyle/>
          <a:p>
            <a:pPr indent="0" marL="0">
              <a:buNone/>
            </a:pPr>
            <a:r>
              <a:rPr lang="en-US" sz="1400" b="1" dirty="0">
                <a:solidFill>
                  <a:srgbClr val="1B4332"/>
                </a:solidFill>
                <a:latin typeface="Calibri" pitchFamily="34" charset="0"/>
                <a:ea typeface="Calibri" pitchFamily="34" charset="-122"/>
                <a:cs typeface="Calibri" pitchFamily="34" charset="-120"/>
              </a:rPr>
              <a:t>Liefferink et al. (2009)</a:t>
            </a:r>
            <a:endParaRPr lang="en-US" sz="1400" dirty="0"/>
          </a:p>
        </p:txBody>
      </p:sp>
      <p:sp>
        <p:nvSpPr>
          <p:cNvPr id="6" name="Text 4"/>
          <p:cNvSpPr/>
          <p:nvPr/>
        </p:nvSpPr>
        <p:spPr>
          <a:xfrm>
            <a:off x="822960" y="1554480"/>
            <a:ext cx="3383280" cy="82296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Gap approach: measure distance from the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best performer (pioneer) across multiple</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dimensions simultaneously.</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Directly from module reading list</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(Holzinger &amp; Sommerer 2012).</a:t>
            </a:r>
            <a:endParaRPr lang="en-US" sz="1200" dirty="0"/>
          </a:p>
        </p:txBody>
      </p:sp>
      <p:sp>
        <p:nvSpPr>
          <p:cNvPr id="7" name="Shape 5"/>
          <p:cNvSpPr/>
          <p:nvPr/>
        </p:nvSpPr>
        <p:spPr>
          <a:xfrm>
            <a:off x="4754880" y="1097280"/>
            <a:ext cx="3749040" cy="1463040"/>
          </a:xfrm>
          <a:prstGeom prst="roundRect">
            <a:avLst>
              <a:gd name="adj" fmla="val 6250"/>
            </a:avLst>
          </a:prstGeom>
          <a:solidFill>
            <a:srgbClr val="D8F3DC"/>
          </a:solidFill>
          <a:ln/>
          <a:effectLst>
            <a:outerShdw sx="100000" sy="100000" kx="0" ky="0" algn="bl" rotWithShape="0" blurRad="101600" dist="38100" dir="2700000">
              <a:srgbClr val="000000">
                <a:alpha val="12000"/>
              </a:srgbClr>
            </a:outerShdw>
          </a:effectLst>
        </p:spPr>
      </p:sp>
      <p:sp>
        <p:nvSpPr>
          <p:cNvPr id="8" name="Text 6"/>
          <p:cNvSpPr/>
          <p:nvPr/>
        </p:nvSpPr>
        <p:spPr>
          <a:xfrm>
            <a:off x="4937760" y="1188720"/>
            <a:ext cx="3383280" cy="365760"/>
          </a:xfrm>
          <a:prstGeom prst="rect">
            <a:avLst/>
          </a:prstGeom>
          <a:noFill/>
          <a:ln/>
        </p:spPr>
        <p:txBody>
          <a:bodyPr wrap="square" lIns="0" tIns="0" rIns="0" bIns="0"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Game Mechanic: Comparison Dashboard</a:t>
            </a:r>
            <a:endParaRPr lang="en-US" sz="1400" dirty="0"/>
          </a:p>
        </p:txBody>
      </p:sp>
      <p:sp>
        <p:nvSpPr>
          <p:cNvPr id="9" name="Text 7"/>
          <p:cNvSpPr/>
          <p:nvPr/>
        </p:nvSpPr>
        <p:spPr>
          <a:xfrm>
            <a:off x="4937760" y="1554480"/>
            <a:ext cx="3383280" cy="82296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6 metrics equally weighted:</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CO₂ per capita  • Green energy ratio</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Carbon tax level  • CO₂ trend</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Summit voting record  • Climate finance</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Pioneer IS the benchmark — shifts dynamically.</a:t>
            </a:r>
            <a:endParaRPr lang="en-US" sz="1200" dirty="0"/>
          </a:p>
        </p:txBody>
      </p:sp>
      <p:sp>
        <p:nvSpPr>
          <p:cNvPr id="10" name="Shape 8"/>
          <p:cNvSpPr/>
          <p:nvPr/>
        </p:nvSpPr>
        <p:spPr>
          <a:xfrm>
            <a:off x="640080" y="2743200"/>
            <a:ext cx="7863840" cy="1737360"/>
          </a:xfrm>
          <a:prstGeom prst="roundRect">
            <a:avLst>
              <a:gd name="adj" fmla="val 5263"/>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822960" y="2788920"/>
            <a:ext cx="7498080" cy="274320"/>
          </a:xfrm>
          <a:prstGeom prst="rect">
            <a:avLst/>
          </a:prstGeom>
          <a:noFill/>
          <a:ln/>
        </p:spPr>
        <p:txBody>
          <a:bodyPr wrap="square" lIns="0" tIns="0" rIns="0" bIns="0" rtlCol="0" anchor="ctr"/>
          <a:lstStyle/>
          <a:p>
            <a:pPr indent="0" marL="0">
              <a:buNone/>
            </a:pPr>
            <a:r>
              <a:rPr lang="en-US" sz="1200" b="1" dirty="0">
                <a:solidFill>
                  <a:srgbClr val="1B4332"/>
                </a:solidFill>
                <a:latin typeface="Calibri" pitchFamily="34" charset="0"/>
                <a:ea typeface="Calibri" pitchFamily="34" charset="-122"/>
                <a:cs typeface="Calibri" pitchFamily="34" charset="-120"/>
              </a:rPr>
              <a:t>RANKINGS — GAP FROM CURRENT PIONEER</a:t>
            </a:r>
            <a:endParaRPr lang="en-US" sz="1200" dirty="0"/>
          </a:p>
        </p:txBody>
      </p:sp>
      <p:sp>
        <p:nvSpPr>
          <p:cNvPr id="12" name="Text 10"/>
          <p:cNvSpPr/>
          <p:nvPr/>
        </p:nvSpPr>
        <p:spPr>
          <a:xfrm>
            <a:off x="822960" y="3108960"/>
            <a:ext cx="548640" cy="228600"/>
          </a:xfrm>
          <a:prstGeom prst="rect">
            <a:avLst/>
          </a:prstGeom>
          <a:noFill/>
          <a:ln/>
        </p:spPr>
        <p:txBody>
          <a:bodyPr wrap="square" lIns="0" tIns="0" rIns="0" bIns="0" rtlCol="0" anchor="ctr"/>
          <a:lstStyle/>
          <a:p>
            <a:pPr indent="0" marL="0">
              <a:buNone/>
            </a:pPr>
            <a:r>
              <a:rPr lang="en-US" sz="1000" b="1" dirty="0">
                <a:solidFill>
                  <a:srgbClr val="1B4332"/>
                </a:solidFill>
                <a:latin typeface="Calibri" pitchFamily="34" charset="0"/>
                <a:ea typeface="Calibri" pitchFamily="34" charset="-122"/>
                <a:cs typeface="Calibri" pitchFamily="34" charset="-120"/>
              </a:rPr>
              <a:t>Rank</a:t>
            </a:r>
            <a:endParaRPr lang="en-US" sz="1000" dirty="0"/>
          </a:p>
        </p:txBody>
      </p:sp>
      <p:sp>
        <p:nvSpPr>
          <p:cNvPr id="13" name="Text 11"/>
          <p:cNvSpPr/>
          <p:nvPr/>
        </p:nvSpPr>
        <p:spPr>
          <a:xfrm>
            <a:off x="1508760" y="3108960"/>
            <a:ext cx="1097280" cy="228600"/>
          </a:xfrm>
          <a:prstGeom prst="rect">
            <a:avLst/>
          </a:prstGeom>
          <a:noFill/>
          <a:ln/>
        </p:spPr>
        <p:txBody>
          <a:bodyPr wrap="square" lIns="0" tIns="0" rIns="0" bIns="0" rtlCol="0" anchor="ctr"/>
          <a:lstStyle/>
          <a:p>
            <a:pPr indent="0" marL="0">
              <a:buNone/>
            </a:pPr>
            <a:r>
              <a:rPr lang="en-US" sz="1000" b="1" dirty="0">
                <a:solidFill>
                  <a:srgbClr val="1B4332"/>
                </a:solidFill>
                <a:latin typeface="Calibri" pitchFamily="34" charset="0"/>
                <a:ea typeface="Calibri" pitchFamily="34" charset="-122"/>
                <a:cs typeface="Calibri" pitchFamily="34" charset="-120"/>
              </a:rPr>
              <a:t>Country</a:t>
            </a:r>
            <a:endParaRPr lang="en-US" sz="1000" dirty="0"/>
          </a:p>
        </p:txBody>
      </p:sp>
      <p:sp>
        <p:nvSpPr>
          <p:cNvPr id="14" name="Text 12"/>
          <p:cNvSpPr/>
          <p:nvPr/>
        </p:nvSpPr>
        <p:spPr>
          <a:xfrm>
            <a:off x="2743200" y="3108960"/>
            <a:ext cx="914400" cy="228600"/>
          </a:xfrm>
          <a:prstGeom prst="rect">
            <a:avLst/>
          </a:prstGeom>
          <a:noFill/>
          <a:ln/>
        </p:spPr>
        <p:txBody>
          <a:bodyPr wrap="square" lIns="0" tIns="0" rIns="0" bIns="0" rtlCol="0" anchor="ctr"/>
          <a:lstStyle/>
          <a:p>
            <a:pPr indent="0" marL="0">
              <a:buNone/>
            </a:pPr>
            <a:r>
              <a:rPr lang="en-US" sz="1000" b="1" dirty="0">
                <a:solidFill>
                  <a:srgbClr val="1B4332"/>
                </a:solidFill>
                <a:latin typeface="Calibri" pitchFamily="34" charset="0"/>
                <a:ea typeface="Calibri" pitchFamily="34" charset="-122"/>
                <a:cs typeface="Calibri" pitchFamily="34" charset="-120"/>
              </a:rPr>
              <a:t>CO₂/cap</a:t>
            </a:r>
            <a:endParaRPr lang="en-US" sz="1000" dirty="0"/>
          </a:p>
        </p:txBody>
      </p:sp>
      <p:sp>
        <p:nvSpPr>
          <p:cNvPr id="15" name="Text 13"/>
          <p:cNvSpPr/>
          <p:nvPr/>
        </p:nvSpPr>
        <p:spPr>
          <a:xfrm>
            <a:off x="3794760" y="3108960"/>
            <a:ext cx="914400" cy="228600"/>
          </a:xfrm>
          <a:prstGeom prst="rect">
            <a:avLst/>
          </a:prstGeom>
          <a:noFill/>
          <a:ln/>
        </p:spPr>
        <p:txBody>
          <a:bodyPr wrap="square" lIns="0" tIns="0" rIns="0" bIns="0" rtlCol="0" anchor="ctr"/>
          <a:lstStyle/>
          <a:p>
            <a:pPr indent="0" marL="0">
              <a:buNone/>
            </a:pPr>
            <a:r>
              <a:rPr lang="en-US" sz="1000" b="1" dirty="0">
                <a:solidFill>
                  <a:srgbClr val="1B4332"/>
                </a:solidFill>
                <a:latin typeface="Calibri" pitchFamily="34" charset="0"/>
                <a:ea typeface="Calibri" pitchFamily="34" charset="-122"/>
                <a:cs typeface="Calibri" pitchFamily="34" charset="-120"/>
              </a:rPr>
              <a:t>Green%</a:t>
            </a:r>
            <a:endParaRPr lang="en-US" sz="1000" dirty="0"/>
          </a:p>
        </p:txBody>
      </p:sp>
      <p:sp>
        <p:nvSpPr>
          <p:cNvPr id="16" name="Text 14"/>
          <p:cNvSpPr/>
          <p:nvPr/>
        </p:nvSpPr>
        <p:spPr>
          <a:xfrm>
            <a:off x="4846320" y="3108960"/>
            <a:ext cx="731520" cy="228600"/>
          </a:xfrm>
          <a:prstGeom prst="rect">
            <a:avLst/>
          </a:prstGeom>
          <a:noFill/>
          <a:ln/>
        </p:spPr>
        <p:txBody>
          <a:bodyPr wrap="square" lIns="0" tIns="0" rIns="0" bIns="0" rtlCol="0" anchor="ctr"/>
          <a:lstStyle/>
          <a:p>
            <a:pPr indent="0" marL="0">
              <a:buNone/>
            </a:pPr>
            <a:r>
              <a:rPr lang="en-US" sz="1000" b="1" dirty="0">
                <a:solidFill>
                  <a:srgbClr val="1B4332"/>
                </a:solidFill>
                <a:latin typeface="Calibri" pitchFamily="34" charset="0"/>
                <a:ea typeface="Calibri" pitchFamily="34" charset="-122"/>
                <a:cs typeface="Calibri" pitchFamily="34" charset="-120"/>
              </a:rPr>
              <a:t>Tax</a:t>
            </a:r>
            <a:endParaRPr lang="en-US" sz="1000" dirty="0"/>
          </a:p>
        </p:txBody>
      </p:sp>
      <p:sp>
        <p:nvSpPr>
          <p:cNvPr id="17" name="Text 15"/>
          <p:cNvSpPr/>
          <p:nvPr/>
        </p:nvSpPr>
        <p:spPr>
          <a:xfrm>
            <a:off x="5715000" y="3108960"/>
            <a:ext cx="1097280" cy="228600"/>
          </a:xfrm>
          <a:prstGeom prst="rect">
            <a:avLst/>
          </a:prstGeom>
          <a:noFill/>
          <a:ln/>
        </p:spPr>
        <p:txBody>
          <a:bodyPr wrap="square" lIns="0" tIns="0" rIns="0" bIns="0" rtlCol="0" anchor="ctr"/>
          <a:lstStyle/>
          <a:p>
            <a:pPr indent="0" marL="0">
              <a:buNone/>
            </a:pPr>
            <a:r>
              <a:rPr lang="en-US" sz="1000" b="1" dirty="0">
                <a:solidFill>
                  <a:srgbClr val="1B4332"/>
                </a:solidFill>
                <a:latin typeface="Calibri" pitchFamily="34" charset="0"/>
                <a:ea typeface="Calibri" pitchFamily="34" charset="-122"/>
                <a:cs typeface="Calibri" pitchFamily="34" charset="-120"/>
              </a:rPr>
              <a:t>Gap Score</a:t>
            </a:r>
            <a:endParaRPr lang="en-US" sz="1000" dirty="0"/>
          </a:p>
        </p:txBody>
      </p:sp>
      <p:sp>
        <p:nvSpPr>
          <p:cNvPr id="18" name="Text 16"/>
          <p:cNvSpPr/>
          <p:nvPr/>
        </p:nvSpPr>
        <p:spPr>
          <a:xfrm>
            <a:off x="6949440" y="3108960"/>
            <a:ext cx="1097280" cy="228600"/>
          </a:xfrm>
          <a:prstGeom prst="rect">
            <a:avLst/>
          </a:prstGeom>
          <a:noFill/>
          <a:ln/>
        </p:spPr>
        <p:txBody>
          <a:bodyPr wrap="square" lIns="0" tIns="0" rIns="0" bIns="0" rtlCol="0" anchor="ctr"/>
          <a:lstStyle/>
          <a:p>
            <a:pPr indent="0" marL="0">
              <a:buNone/>
            </a:pPr>
            <a:r>
              <a:rPr lang="en-US" sz="1000" b="1" dirty="0">
                <a:solidFill>
                  <a:srgbClr val="1B4332"/>
                </a:solidFill>
                <a:latin typeface="Calibri" pitchFamily="34" charset="0"/>
                <a:ea typeface="Calibri" pitchFamily="34" charset="-122"/>
                <a:cs typeface="Calibri" pitchFamily="34" charset="-120"/>
              </a:rPr>
              <a:t>Status</a:t>
            </a:r>
            <a:endParaRPr lang="en-US" sz="1000" dirty="0"/>
          </a:p>
        </p:txBody>
      </p:sp>
      <p:sp>
        <p:nvSpPr>
          <p:cNvPr id="19" name="Text 17"/>
          <p:cNvSpPr/>
          <p:nvPr/>
        </p:nvSpPr>
        <p:spPr>
          <a:xfrm>
            <a:off x="822960" y="3364992"/>
            <a:ext cx="54864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1</a:t>
            </a:r>
            <a:endParaRPr lang="en-US" sz="1100" dirty="0"/>
          </a:p>
        </p:txBody>
      </p:sp>
      <p:sp>
        <p:nvSpPr>
          <p:cNvPr id="20" name="Text 18"/>
          <p:cNvSpPr/>
          <p:nvPr/>
        </p:nvSpPr>
        <p:spPr>
          <a:xfrm>
            <a:off x="1508760" y="3364992"/>
            <a:ext cx="109728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Africa</a:t>
            </a:r>
            <a:endParaRPr lang="en-US" sz="1100" dirty="0"/>
          </a:p>
        </p:txBody>
      </p:sp>
      <p:sp>
        <p:nvSpPr>
          <p:cNvPr id="21" name="Text 19"/>
          <p:cNvSpPr/>
          <p:nvPr/>
        </p:nvSpPr>
        <p:spPr>
          <a:xfrm>
            <a:off x="2743200" y="3364992"/>
            <a:ext cx="91440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0.09</a:t>
            </a:r>
            <a:endParaRPr lang="en-US" sz="1100" dirty="0"/>
          </a:p>
        </p:txBody>
      </p:sp>
      <p:sp>
        <p:nvSpPr>
          <p:cNvPr id="22" name="Text 20"/>
          <p:cNvSpPr/>
          <p:nvPr/>
        </p:nvSpPr>
        <p:spPr>
          <a:xfrm>
            <a:off x="3794760" y="3364992"/>
            <a:ext cx="91440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0%</a:t>
            </a:r>
            <a:endParaRPr lang="en-US" sz="1100" dirty="0"/>
          </a:p>
        </p:txBody>
      </p:sp>
      <p:sp>
        <p:nvSpPr>
          <p:cNvPr id="23" name="Text 21"/>
          <p:cNvSpPr/>
          <p:nvPr/>
        </p:nvSpPr>
        <p:spPr>
          <a:xfrm>
            <a:off x="4846320" y="3364992"/>
            <a:ext cx="73152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0</a:t>
            </a:r>
            <a:endParaRPr lang="en-US" sz="1100" dirty="0"/>
          </a:p>
        </p:txBody>
      </p:sp>
      <p:sp>
        <p:nvSpPr>
          <p:cNvPr id="24" name="Text 22"/>
          <p:cNvSpPr/>
          <p:nvPr/>
        </p:nvSpPr>
        <p:spPr>
          <a:xfrm>
            <a:off x="5715000" y="3364992"/>
            <a:ext cx="109728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0.00</a:t>
            </a:r>
            <a:endParaRPr lang="en-US" sz="1100" dirty="0"/>
          </a:p>
        </p:txBody>
      </p:sp>
      <p:sp>
        <p:nvSpPr>
          <p:cNvPr id="25" name="Text 23"/>
          <p:cNvSpPr/>
          <p:nvPr/>
        </p:nvSpPr>
        <p:spPr>
          <a:xfrm>
            <a:off x="6949440" y="3364992"/>
            <a:ext cx="109728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Pioneer</a:t>
            </a:r>
            <a:endParaRPr lang="en-US" sz="1100" dirty="0"/>
          </a:p>
        </p:txBody>
      </p:sp>
      <p:sp>
        <p:nvSpPr>
          <p:cNvPr id="26" name="Text 24"/>
          <p:cNvSpPr/>
          <p:nvPr/>
        </p:nvSpPr>
        <p:spPr>
          <a:xfrm>
            <a:off x="822960" y="3621024"/>
            <a:ext cx="54864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2</a:t>
            </a:r>
            <a:endParaRPr lang="en-US" sz="1100" dirty="0"/>
          </a:p>
        </p:txBody>
      </p:sp>
      <p:sp>
        <p:nvSpPr>
          <p:cNvPr id="27" name="Text 25"/>
          <p:cNvSpPr/>
          <p:nvPr/>
        </p:nvSpPr>
        <p:spPr>
          <a:xfrm>
            <a:off x="1508760" y="3621024"/>
            <a:ext cx="109728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India</a:t>
            </a:r>
            <a:endParaRPr lang="en-US" sz="1100" dirty="0"/>
          </a:p>
        </p:txBody>
      </p:sp>
      <p:sp>
        <p:nvSpPr>
          <p:cNvPr id="28" name="Text 26"/>
          <p:cNvSpPr/>
          <p:nvPr/>
        </p:nvSpPr>
        <p:spPr>
          <a:xfrm>
            <a:off x="2743200" y="3621024"/>
            <a:ext cx="91440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0.15</a:t>
            </a:r>
            <a:endParaRPr lang="en-US" sz="1100" dirty="0"/>
          </a:p>
        </p:txBody>
      </p:sp>
      <p:sp>
        <p:nvSpPr>
          <p:cNvPr id="29" name="Text 27"/>
          <p:cNvSpPr/>
          <p:nvPr/>
        </p:nvSpPr>
        <p:spPr>
          <a:xfrm>
            <a:off x="3794760" y="3621024"/>
            <a:ext cx="91440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0%</a:t>
            </a:r>
            <a:endParaRPr lang="en-US" sz="1100" dirty="0"/>
          </a:p>
        </p:txBody>
      </p:sp>
      <p:sp>
        <p:nvSpPr>
          <p:cNvPr id="30" name="Text 28"/>
          <p:cNvSpPr/>
          <p:nvPr/>
        </p:nvSpPr>
        <p:spPr>
          <a:xfrm>
            <a:off x="4846320" y="3621024"/>
            <a:ext cx="73152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0</a:t>
            </a:r>
            <a:endParaRPr lang="en-US" sz="1100" dirty="0"/>
          </a:p>
        </p:txBody>
      </p:sp>
      <p:sp>
        <p:nvSpPr>
          <p:cNvPr id="31" name="Text 29"/>
          <p:cNvSpPr/>
          <p:nvPr/>
        </p:nvSpPr>
        <p:spPr>
          <a:xfrm>
            <a:off x="5715000" y="3621024"/>
            <a:ext cx="109728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0.00</a:t>
            </a:r>
            <a:endParaRPr lang="en-US" sz="1100" dirty="0"/>
          </a:p>
        </p:txBody>
      </p:sp>
      <p:sp>
        <p:nvSpPr>
          <p:cNvPr id="32" name="Text 30"/>
          <p:cNvSpPr/>
          <p:nvPr/>
        </p:nvSpPr>
        <p:spPr>
          <a:xfrm>
            <a:off x="6949440" y="3621024"/>
            <a:ext cx="1097280" cy="228600"/>
          </a:xfrm>
          <a:prstGeom prst="rect">
            <a:avLst/>
          </a:prstGeom>
          <a:noFill/>
          <a:ln/>
        </p:spPr>
        <p:txBody>
          <a:bodyPr wrap="square" lIns="0" tIns="0" rIns="0" bIns="0" rtlCol="0" anchor="ctr"/>
          <a:lstStyle/>
          <a:p>
            <a:pPr indent="0" marL="0">
              <a:buNone/>
            </a:pPr>
            <a:r>
              <a:rPr lang="en-US" sz="1100" dirty="0">
                <a:solidFill>
                  <a:srgbClr val="40916C"/>
                </a:solidFill>
                <a:latin typeface="Calibri" pitchFamily="34" charset="0"/>
                <a:ea typeface="Calibri" pitchFamily="34" charset="-122"/>
                <a:cs typeface="Calibri" pitchFamily="34" charset="-120"/>
              </a:rPr>
              <a:t>Pioneer</a:t>
            </a:r>
            <a:endParaRPr lang="en-US" sz="1100" dirty="0"/>
          </a:p>
        </p:txBody>
      </p:sp>
      <p:sp>
        <p:nvSpPr>
          <p:cNvPr id="33" name="Text 31"/>
          <p:cNvSpPr/>
          <p:nvPr/>
        </p:nvSpPr>
        <p:spPr>
          <a:xfrm>
            <a:off x="822960" y="3877056"/>
            <a:ext cx="54864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7</a:t>
            </a:r>
            <a:endParaRPr lang="en-US" sz="1100" dirty="0"/>
          </a:p>
        </p:txBody>
      </p:sp>
      <p:sp>
        <p:nvSpPr>
          <p:cNvPr id="34" name="Text 32"/>
          <p:cNvSpPr/>
          <p:nvPr/>
        </p:nvSpPr>
        <p:spPr>
          <a:xfrm>
            <a:off x="1508760" y="3877056"/>
            <a:ext cx="109728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Russia</a:t>
            </a:r>
            <a:endParaRPr lang="en-US" sz="1100" dirty="0"/>
          </a:p>
        </p:txBody>
      </p:sp>
      <p:sp>
        <p:nvSpPr>
          <p:cNvPr id="35" name="Text 33"/>
          <p:cNvSpPr/>
          <p:nvPr/>
        </p:nvSpPr>
        <p:spPr>
          <a:xfrm>
            <a:off x="2743200" y="3877056"/>
            <a:ext cx="91440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2.06</a:t>
            </a:r>
            <a:endParaRPr lang="en-US" sz="1100" dirty="0"/>
          </a:p>
        </p:txBody>
      </p:sp>
      <p:sp>
        <p:nvSpPr>
          <p:cNvPr id="36" name="Text 34"/>
          <p:cNvSpPr/>
          <p:nvPr/>
        </p:nvSpPr>
        <p:spPr>
          <a:xfrm>
            <a:off x="3794760" y="3877056"/>
            <a:ext cx="91440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0%</a:t>
            </a:r>
            <a:endParaRPr lang="en-US" sz="1100" dirty="0"/>
          </a:p>
        </p:txBody>
      </p:sp>
      <p:sp>
        <p:nvSpPr>
          <p:cNvPr id="37" name="Text 35"/>
          <p:cNvSpPr/>
          <p:nvPr/>
        </p:nvSpPr>
        <p:spPr>
          <a:xfrm>
            <a:off x="4846320" y="3877056"/>
            <a:ext cx="73152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0</a:t>
            </a:r>
            <a:endParaRPr lang="en-US" sz="1100" dirty="0"/>
          </a:p>
        </p:txBody>
      </p:sp>
      <p:sp>
        <p:nvSpPr>
          <p:cNvPr id="38" name="Text 36"/>
          <p:cNvSpPr/>
          <p:nvPr/>
        </p:nvSpPr>
        <p:spPr>
          <a:xfrm>
            <a:off x="5715000" y="3877056"/>
            <a:ext cx="109728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0.16</a:t>
            </a:r>
            <a:endParaRPr lang="en-US" sz="1100" dirty="0"/>
          </a:p>
        </p:txBody>
      </p:sp>
      <p:sp>
        <p:nvSpPr>
          <p:cNvPr id="39" name="Text 37"/>
          <p:cNvSpPr/>
          <p:nvPr/>
        </p:nvSpPr>
        <p:spPr>
          <a:xfrm>
            <a:off x="6949440" y="3877056"/>
            <a:ext cx="109728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Laggard</a:t>
            </a:r>
            <a:endParaRPr lang="en-US" sz="1100" dirty="0"/>
          </a:p>
        </p:txBody>
      </p:sp>
      <p:sp>
        <p:nvSpPr>
          <p:cNvPr id="40" name="Text 38"/>
          <p:cNvSpPr/>
          <p:nvPr/>
        </p:nvSpPr>
        <p:spPr>
          <a:xfrm>
            <a:off x="822960" y="4133088"/>
            <a:ext cx="54864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8</a:t>
            </a:r>
            <a:endParaRPr lang="en-US" sz="1100" dirty="0"/>
          </a:p>
        </p:txBody>
      </p:sp>
      <p:sp>
        <p:nvSpPr>
          <p:cNvPr id="41" name="Text 39"/>
          <p:cNvSpPr/>
          <p:nvPr/>
        </p:nvSpPr>
        <p:spPr>
          <a:xfrm>
            <a:off x="1508760" y="4133088"/>
            <a:ext cx="109728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USA</a:t>
            </a:r>
            <a:endParaRPr lang="en-US" sz="1100" dirty="0"/>
          </a:p>
        </p:txBody>
      </p:sp>
      <p:sp>
        <p:nvSpPr>
          <p:cNvPr id="42" name="Text 40"/>
          <p:cNvSpPr/>
          <p:nvPr/>
        </p:nvSpPr>
        <p:spPr>
          <a:xfrm>
            <a:off x="2743200" y="4133088"/>
            <a:ext cx="91440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2.18</a:t>
            </a:r>
            <a:endParaRPr lang="en-US" sz="1100" dirty="0"/>
          </a:p>
        </p:txBody>
      </p:sp>
      <p:sp>
        <p:nvSpPr>
          <p:cNvPr id="43" name="Text 41"/>
          <p:cNvSpPr/>
          <p:nvPr/>
        </p:nvSpPr>
        <p:spPr>
          <a:xfrm>
            <a:off x="3794760" y="4133088"/>
            <a:ext cx="91440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0%</a:t>
            </a:r>
            <a:endParaRPr lang="en-US" sz="1100" dirty="0"/>
          </a:p>
        </p:txBody>
      </p:sp>
      <p:sp>
        <p:nvSpPr>
          <p:cNvPr id="44" name="Text 42"/>
          <p:cNvSpPr/>
          <p:nvPr/>
        </p:nvSpPr>
        <p:spPr>
          <a:xfrm>
            <a:off x="4846320" y="4133088"/>
            <a:ext cx="73152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0</a:t>
            </a:r>
            <a:endParaRPr lang="en-US" sz="1100" dirty="0"/>
          </a:p>
        </p:txBody>
      </p:sp>
      <p:sp>
        <p:nvSpPr>
          <p:cNvPr id="45" name="Text 43"/>
          <p:cNvSpPr/>
          <p:nvPr/>
        </p:nvSpPr>
        <p:spPr>
          <a:xfrm>
            <a:off x="5715000" y="4133088"/>
            <a:ext cx="109728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0.17</a:t>
            </a:r>
            <a:endParaRPr lang="en-US" sz="1100" dirty="0"/>
          </a:p>
        </p:txBody>
      </p:sp>
      <p:sp>
        <p:nvSpPr>
          <p:cNvPr id="46" name="Text 44"/>
          <p:cNvSpPr/>
          <p:nvPr/>
        </p:nvSpPr>
        <p:spPr>
          <a:xfrm>
            <a:off x="6949440" y="4133088"/>
            <a:ext cx="1097280" cy="228600"/>
          </a:xfrm>
          <a:prstGeom prst="rect">
            <a:avLst/>
          </a:prstGeom>
          <a:noFill/>
          <a:ln/>
        </p:spPr>
        <p:txBody>
          <a:bodyPr wrap="square" lIns="0" tIns="0" rIns="0" bIns="0" rtlCol="0" anchor="ctr"/>
          <a:lstStyle/>
          <a:p>
            <a:pPr indent="0" marL="0">
              <a:buNone/>
            </a:pPr>
            <a:r>
              <a:rPr lang="en-US" sz="1100" dirty="0">
                <a:solidFill>
                  <a:srgbClr val="E76F51"/>
                </a:solidFill>
                <a:latin typeface="Calibri" pitchFamily="34" charset="0"/>
                <a:ea typeface="Calibri" pitchFamily="34" charset="-122"/>
                <a:cs typeface="Calibri" pitchFamily="34" charset="-120"/>
              </a:rPr>
              <a:t>Laggard</a:t>
            </a:r>
            <a:endParaRPr lang="en-US" sz="1100" dirty="0"/>
          </a:p>
        </p:txBody>
      </p:sp>
      <p:sp>
        <p:nvSpPr>
          <p:cNvPr id="47" name="Text 45"/>
          <p:cNvSpPr/>
          <p:nvPr/>
        </p:nvSpPr>
        <p:spPr>
          <a:xfrm>
            <a:off x="822960" y="4663440"/>
            <a:ext cx="7498080" cy="228600"/>
          </a:xfrm>
          <a:prstGeom prst="rect">
            <a:avLst/>
          </a:prstGeom>
          <a:noFill/>
          <a:ln/>
        </p:spPr>
        <p:txBody>
          <a:bodyPr wrap="square" lIns="0" tIns="0" rIns="0" bIns="0" rtlCol="0" anchor="ctr"/>
          <a:lstStyle/>
          <a:p>
            <a:pPr indent="0" marL="0">
              <a:buNone/>
            </a:pPr>
            <a:r>
              <a:rPr lang="en-US" sz="1200" i="1" dirty="0">
                <a:solidFill>
                  <a:srgbClr val="2D6A4F"/>
                </a:solidFill>
                <a:latin typeface="Calibri" pitchFamily="34" charset="0"/>
                <a:ea typeface="Calibri" pitchFamily="34" charset="-122"/>
                <a:cs typeface="Calibri" pitchFamily="34" charset="-120"/>
              </a:rPr>
              <a:t>This dashboard IS the victory condition — lowest composite gap wins.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Layer 7: Polycentric Governance &amp; Distributive Conflict</a:t>
            </a:r>
            <a:endParaRPr lang="en-US" sz="2400" dirty="0"/>
          </a:p>
        </p:txBody>
      </p:sp>
      <p:sp>
        <p:nvSpPr>
          <p:cNvPr id="4" name="Shape 2"/>
          <p:cNvSpPr/>
          <p:nvPr/>
        </p:nvSpPr>
        <p:spPr>
          <a:xfrm>
            <a:off x="640080" y="1097280"/>
            <a:ext cx="3749040" cy="1645920"/>
          </a:xfrm>
          <a:prstGeom prst="roundRect">
            <a:avLst>
              <a:gd name="adj" fmla="val 5556"/>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822960" y="1188720"/>
            <a:ext cx="3383280" cy="365760"/>
          </a:xfrm>
          <a:prstGeom prst="rect">
            <a:avLst/>
          </a:prstGeom>
          <a:noFill/>
          <a:ln/>
        </p:spPr>
        <p:txBody>
          <a:bodyPr wrap="square" lIns="0" tIns="0" rIns="0" bIns="0" rtlCol="0" anchor="ctr"/>
          <a:lstStyle/>
          <a:p>
            <a:pPr indent="0" marL="0">
              <a:buNone/>
            </a:pPr>
            <a:r>
              <a:rPr lang="en-US" sz="1400" b="1" dirty="0">
                <a:solidFill>
                  <a:srgbClr val="1B4332"/>
                </a:solidFill>
                <a:latin typeface="Calibri" pitchFamily="34" charset="0"/>
                <a:ea typeface="Calibri" pitchFamily="34" charset="-122"/>
                <a:cs typeface="Calibri" pitchFamily="34" charset="-120"/>
              </a:rPr>
              <a:t>Ostrom (1990, 2010)</a:t>
            </a:r>
            <a:endParaRPr lang="en-US" sz="1400" dirty="0"/>
          </a:p>
        </p:txBody>
      </p:sp>
      <p:sp>
        <p:nvSpPr>
          <p:cNvPr id="6" name="Text 4"/>
          <p:cNvSpPr/>
          <p:nvPr/>
        </p:nvSpPr>
        <p:spPr>
          <a:xfrm>
            <a:off x="822960" y="1554480"/>
            <a:ext cx="3383280" cy="100584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Multiple overlapping governance layers</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work better than single global authority.</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Cooperation emerges from redundancy:</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bilateral + multilateral + regional.</a:t>
            </a:r>
            <a:endParaRPr lang="en-US" sz="1200" dirty="0"/>
          </a:p>
        </p:txBody>
      </p:sp>
      <p:sp>
        <p:nvSpPr>
          <p:cNvPr id="7" name="Shape 5"/>
          <p:cNvSpPr/>
          <p:nvPr/>
        </p:nvSpPr>
        <p:spPr>
          <a:xfrm>
            <a:off x="4754880" y="1097280"/>
            <a:ext cx="3749040" cy="1645920"/>
          </a:xfrm>
          <a:prstGeom prst="roundRect">
            <a:avLst>
              <a:gd name="adj" fmla="val 5556"/>
            </a:avLst>
          </a:prstGeom>
          <a:solidFill>
            <a:srgbClr val="D8F3DC"/>
          </a:solidFill>
          <a:ln/>
          <a:effectLst>
            <a:outerShdw sx="100000" sy="100000" kx="0" ky="0" algn="bl" rotWithShape="0" blurRad="101600" dist="38100" dir="2700000">
              <a:srgbClr val="000000">
                <a:alpha val="12000"/>
              </a:srgbClr>
            </a:outerShdw>
          </a:effectLst>
        </p:spPr>
      </p:sp>
      <p:sp>
        <p:nvSpPr>
          <p:cNvPr id="8" name="Text 6"/>
          <p:cNvSpPr/>
          <p:nvPr/>
        </p:nvSpPr>
        <p:spPr>
          <a:xfrm>
            <a:off x="4937760" y="1188720"/>
            <a:ext cx="3383280" cy="365760"/>
          </a:xfrm>
          <a:prstGeom prst="rect">
            <a:avLst/>
          </a:prstGeom>
          <a:noFill/>
          <a:ln/>
        </p:spPr>
        <p:txBody>
          <a:bodyPr wrap="square" lIns="0" tIns="0" rIns="0" bIns="0"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Aklin &amp; Mildenberger (2020)</a:t>
            </a:r>
            <a:endParaRPr lang="en-US" sz="1400" dirty="0"/>
          </a:p>
        </p:txBody>
      </p:sp>
      <p:sp>
        <p:nvSpPr>
          <p:cNvPr id="9" name="Text 7"/>
          <p:cNvSpPr/>
          <p:nvPr/>
        </p:nvSpPr>
        <p:spPr>
          <a:xfrm>
            <a:off x="4937760" y="1554480"/>
            <a:ext cx="3383280" cy="1005840"/>
          </a:xfrm>
          <a:prstGeom prst="rect">
            <a:avLst/>
          </a:prstGeom>
          <a:noFill/>
          <a:ln/>
        </p:spPr>
        <p:txBody>
          <a:bodyPr wrap="square" lIns="0" tIns="0" rIns="0" bIns="0" rtlCol="0" anchor="t"/>
          <a:lstStyle/>
          <a:p>
            <a:pPr indent="0" marL="0">
              <a:buNone/>
            </a:pPr>
            <a:r>
              <a:rPr lang="en-US" sz="1200" dirty="0">
                <a:solidFill>
                  <a:srgbClr val="1A1A2E"/>
                </a:solidFill>
                <a:latin typeface="Calibri" pitchFamily="34" charset="0"/>
                <a:ea typeface="Calibri" pitchFamily="34" charset="-122"/>
                <a:cs typeface="Calibri" pitchFamily="34" charset="-120"/>
              </a:rPr>
              <a:t>Climate politics = distributive conflict.</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Winners and losers exist at every level:</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North vs. South (CBDR, Rio 1992)</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Fossil exporters vs. importers</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Brown vs. Green within countries</a:t>
            </a:r>
            <a:endParaRPr lang="en-US" sz="1200" dirty="0"/>
          </a:p>
        </p:txBody>
      </p:sp>
      <p:sp>
        <p:nvSpPr>
          <p:cNvPr id="10" name="Text 8"/>
          <p:cNvSpPr/>
          <p:nvPr/>
        </p:nvSpPr>
        <p:spPr>
          <a:xfrm>
            <a:off x="640080" y="3017520"/>
            <a:ext cx="7863840" cy="32004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Four cooperation channels in the game:</a:t>
            </a:r>
            <a:endParaRPr lang="en-US" sz="1400" dirty="0"/>
          </a:p>
        </p:txBody>
      </p:sp>
      <p:sp>
        <p:nvSpPr>
          <p:cNvPr id="11" name="Shape 9"/>
          <p:cNvSpPr/>
          <p:nvPr/>
        </p:nvSpPr>
        <p:spPr>
          <a:xfrm>
            <a:off x="640080" y="3383280"/>
            <a:ext cx="365760" cy="365760"/>
          </a:xfrm>
          <a:prstGeom prst="ellipse">
            <a:avLst/>
          </a:prstGeom>
          <a:solidFill>
            <a:srgbClr val="40916C"/>
          </a:solidFill>
          <a:ln/>
        </p:spPr>
      </p:sp>
      <p:sp>
        <p:nvSpPr>
          <p:cNvPr id="12" name="Text 10"/>
          <p:cNvSpPr/>
          <p:nvPr/>
        </p:nvSpPr>
        <p:spPr>
          <a:xfrm>
            <a:off x="640080" y="338328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3" name="Text 11"/>
          <p:cNvSpPr/>
          <p:nvPr/>
        </p:nvSpPr>
        <p:spPr>
          <a:xfrm>
            <a:off x="1143000" y="3383280"/>
            <a:ext cx="3246120" cy="27432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Bilateral Trade</a:t>
            </a:r>
            <a:endParaRPr lang="en-US" sz="1400" dirty="0"/>
          </a:p>
        </p:txBody>
      </p:sp>
      <p:sp>
        <p:nvSpPr>
          <p:cNvPr id="14" name="Text 12"/>
          <p:cNvSpPr/>
          <p:nvPr/>
        </p:nvSpPr>
        <p:spPr>
          <a:xfrm>
            <a:off x="1143000" y="3657600"/>
            <a:ext cx="3246120" cy="274320"/>
          </a:xfrm>
          <a:prstGeom prst="rect">
            <a:avLst/>
          </a:prstGeom>
          <a:noFill/>
          <a:ln/>
        </p:spPr>
        <p:txBody>
          <a:bodyPr wrap="square" lIns="0" tIns="0" rIns="0" bIns="0" rtlCol="0" anchor="ctr"/>
          <a:lstStyle/>
          <a:p>
            <a:pPr indent="0" marL="0">
              <a:buNone/>
            </a:pPr>
            <a:r>
              <a:rPr lang="en-US" sz="1100" dirty="0">
                <a:solidFill>
                  <a:srgbClr val="6C757D"/>
                </a:solidFill>
                <a:latin typeface="Calibri" pitchFamily="34" charset="0"/>
                <a:ea typeface="Calibri" pitchFamily="34" charset="-122"/>
                <a:cs typeface="Calibri" pitchFamily="34" charset="-120"/>
              </a:rPr>
              <a:t>Direct resource exchange between countries</a:t>
            </a:r>
            <a:endParaRPr lang="en-US" sz="1100" dirty="0"/>
          </a:p>
        </p:txBody>
      </p:sp>
      <p:sp>
        <p:nvSpPr>
          <p:cNvPr id="15" name="Shape 13"/>
          <p:cNvSpPr/>
          <p:nvPr/>
        </p:nvSpPr>
        <p:spPr>
          <a:xfrm>
            <a:off x="4754880" y="3383280"/>
            <a:ext cx="365760" cy="365760"/>
          </a:xfrm>
          <a:prstGeom prst="ellipse">
            <a:avLst/>
          </a:prstGeom>
          <a:solidFill>
            <a:srgbClr val="40916C"/>
          </a:solidFill>
          <a:ln/>
        </p:spPr>
      </p:sp>
      <p:sp>
        <p:nvSpPr>
          <p:cNvPr id="16" name="Text 14"/>
          <p:cNvSpPr/>
          <p:nvPr/>
        </p:nvSpPr>
        <p:spPr>
          <a:xfrm>
            <a:off x="4754880" y="338328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5257800" y="3383280"/>
            <a:ext cx="3246120" cy="27432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Transit Agreements</a:t>
            </a:r>
            <a:endParaRPr lang="en-US" sz="1400" dirty="0"/>
          </a:p>
        </p:txBody>
      </p:sp>
      <p:sp>
        <p:nvSpPr>
          <p:cNvPr id="18" name="Text 16"/>
          <p:cNvSpPr/>
          <p:nvPr/>
        </p:nvSpPr>
        <p:spPr>
          <a:xfrm>
            <a:off x="5257800" y="3657600"/>
            <a:ext cx="3246120" cy="274320"/>
          </a:xfrm>
          <a:prstGeom prst="rect">
            <a:avLst/>
          </a:prstGeom>
          <a:noFill/>
          <a:ln/>
        </p:spPr>
        <p:txBody>
          <a:bodyPr wrap="square" lIns="0" tIns="0" rIns="0" bIns="0" rtlCol="0" anchor="ctr"/>
          <a:lstStyle/>
          <a:p>
            <a:pPr indent="0" marL="0">
              <a:buNone/>
            </a:pPr>
            <a:r>
              <a:rPr lang="en-US" sz="1100" dirty="0">
                <a:solidFill>
                  <a:srgbClr val="6C757D"/>
                </a:solidFill>
                <a:latin typeface="Calibri" pitchFamily="34" charset="0"/>
                <a:ea typeface="Calibri" pitchFamily="34" charset="-122"/>
                <a:cs typeface="Calibri" pitchFamily="34" charset="-120"/>
              </a:rPr>
              <a:t>Allow third-party passage through territory</a:t>
            </a:r>
            <a:endParaRPr lang="en-US" sz="1100" dirty="0"/>
          </a:p>
        </p:txBody>
      </p:sp>
      <p:sp>
        <p:nvSpPr>
          <p:cNvPr id="19" name="Shape 17"/>
          <p:cNvSpPr/>
          <p:nvPr/>
        </p:nvSpPr>
        <p:spPr>
          <a:xfrm>
            <a:off x="640080" y="4023360"/>
            <a:ext cx="365760" cy="365760"/>
          </a:xfrm>
          <a:prstGeom prst="ellipse">
            <a:avLst/>
          </a:prstGeom>
          <a:solidFill>
            <a:srgbClr val="40916C"/>
          </a:solidFill>
          <a:ln/>
        </p:spPr>
      </p:sp>
      <p:sp>
        <p:nvSpPr>
          <p:cNvPr id="20" name="Text 18"/>
          <p:cNvSpPr/>
          <p:nvPr/>
        </p:nvSpPr>
        <p:spPr>
          <a:xfrm>
            <a:off x="640080" y="40233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1143000" y="4023360"/>
            <a:ext cx="3246120" cy="27432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Summit Resolutions</a:t>
            </a:r>
            <a:endParaRPr lang="en-US" sz="1400" dirty="0"/>
          </a:p>
        </p:txBody>
      </p:sp>
      <p:sp>
        <p:nvSpPr>
          <p:cNvPr id="22" name="Text 20"/>
          <p:cNvSpPr/>
          <p:nvPr/>
        </p:nvSpPr>
        <p:spPr>
          <a:xfrm>
            <a:off x="1143000" y="4297680"/>
            <a:ext cx="3246120" cy="274320"/>
          </a:xfrm>
          <a:prstGeom prst="rect">
            <a:avLst/>
          </a:prstGeom>
          <a:noFill/>
          <a:ln/>
        </p:spPr>
        <p:txBody>
          <a:bodyPr wrap="square" lIns="0" tIns="0" rIns="0" bIns="0" rtlCol="0" anchor="ctr"/>
          <a:lstStyle/>
          <a:p>
            <a:pPr indent="0" marL="0">
              <a:buNone/>
            </a:pPr>
            <a:r>
              <a:rPr lang="en-US" sz="1100" dirty="0">
                <a:solidFill>
                  <a:srgbClr val="6C757D"/>
                </a:solidFill>
                <a:latin typeface="Calibri" pitchFamily="34" charset="0"/>
                <a:ea typeface="Calibri" pitchFamily="34" charset="-122"/>
                <a:cs typeface="Calibri" pitchFamily="34" charset="-120"/>
              </a:rPr>
              <a:t>Collective boundary enforcement</a:t>
            </a:r>
            <a:endParaRPr lang="en-US" sz="1100" dirty="0"/>
          </a:p>
        </p:txBody>
      </p:sp>
      <p:sp>
        <p:nvSpPr>
          <p:cNvPr id="23" name="Shape 21"/>
          <p:cNvSpPr/>
          <p:nvPr/>
        </p:nvSpPr>
        <p:spPr>
          <a:xfrm>
            <a:off x="4754880" y="4023360"/>
            <a:ext cx="365760" cy="365760"/>
          </a:xfrm>
          <a:prstGeom prst="ellipse">
            <a:avLst/>
          </a:prstGeom>
          <a:solidFill>
            <a:srgbClr val="40916C"/>
          </a:solidFill>
          <a:ln/>
        </p:spPr>
      </p:sp>
      <p:sp>
        <p:nvSpPr>
          <p:cNvPr id="24" name="Text 22"/>
          <p:cNvSpPr/>
          <p:nvPr/>
        </p:nvSpPr>
        <p:spPr>
          <a:xfrm>
            <a:off x="4754880" y="40233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5257800" y="4023360"/>
            <a:ext cx="3246120" cy="27432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Climate Finance</a:t>
            </a:r>
            <a:endParaRPr lang="en-US" sz="1400" dirty="0"/>
          </a:p>
        </p:txBody>
      </p:sp>
      <p:sp>
        <p:nvSpPr>
          <p:cNvPr id="26" name="Text 24"/>
          <p:cNvSpPr/>
          <p:nvPr/>
        </p:nvSpPr>
        <p:spPr>
          <a:xfrm>
            <a:off x="5257800" y="4297680"/>
            <a:ext cx="3246120" cy="274320"/>
          </a:xfrm>
          <a:prstGeom prst="rect">
            <a:avLst/>
          </a:prstGeom>
          <a:noFill/>
          <a:ln/>
        </p:spPr>
        <p:txBody>
          <a:bodyPr wrap="square" lIns="0" tIns="0" rIns="0" bIns="0" rtlCol="0" anchor="ctr"/>
          <a:lstStyle/>
          <a:p>
            <a:pPr indent="0" marL="0">
              <a:buNone/>
            </a:pPr>
            <a:r>
              <a:rPr lang="en-US" sz="1100" dirty="0">
                <a:solidFill>
                  <a:srgbClr val="6C757D"/>
                </a:solidFill>
                <a:latin typeface="Calibri" pitchFamily="34" charset="0"/>
                <a:ea typeface="Calibri" pitchFamily="34" charset="-122"/>
                <a:cs typeface="Calibri" pitchFamily="34" charset="-120"/>
              </a:rPr>
              <a:t>Wealth transfers to developing nations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Country Design — Asymmetry from Real Data</a:t>
            </a:r>
            <a:endParaRPr lang="en-US" sz="2400" dirty="0"/>
          </a:p>
        </p:txBody>
      </p:sp>
      <p:sp>
        <p:nvSpPr>
          <p:cNvPr id="4" name="Shape 2"/>
          <p:cNvSpPr/>
          <p:nvPr/>
        </p:nvSpPr>
        <p:spPr>
          <a:xfrm>
            <a:off x="640080" y="1051560"/>
            <a:ext cx="384048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777240" y="1234440"/>
            <a:ext cx="457200" cy="457200"/>
          </a:xfrm>
          <a:prstGeom prst="ellipse">
            <a:avLst/>
          </a:prstGeom>
          <a:solidFill>
            <a:srgbClr val="3B82F6"/>
          </a:solidFill>
          <a:ln/>
        </p:spPr>
      </p:sp>
      <p:sp>
        <p:nvSpPr>
          <p:cNvPr id="6" name="Text 4"/>
          <p:cNvSpPr/>
          <p:nvPr/>
        </p:nvSpPr>
        <p:spPr>
          <a:xfrm>
            <a:off x="777240" y="1234440"/>
            <a:ext cx="45720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USA</a:t>
            </a:r>
            <a:endParaRPr lang="en-US" sz="800" dirty="0"/>
          </a:p>
        </p:txBody>
      </p:sp>
      <p:sp>
        <p:nvSpPr>
          <p:cNvPr id="7" name="Text 5"/>
          <p:cNvSpPr/>
          <p:nvPr/>
        </p:nvSpPr>
        <p:spPr>
          <a:xfrm>
            <a:off x="1325880" y="1124712"/>
            <a:ext cx="1371600" cy="27432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USA</a:t>
            </a:r>
            <a:endParaRPr lang="en-US" sz="1300" dirty="0"/>
          </a:p>
        </p:txBody>
      </p:sp>
      <p:sp>
        <p:nvSpPr>
          <p:cNvPr id="8" name="Text 6"/>
          <p:cNvSpPr/>
          <p:nvPr/>
        </p:nvSpPr>
        <p:spPr>
          <a:xfrm>
            <a:off x="1325880" y="1371600"/>
            <a:ext cx="2926080" cy="228600"/>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Pop 33 | B:67% G:33%</a:t>
            </a:r>
            <a:endParaRPr lang="en-US" sz="1000" dirty="0"/>
          </a:p>
        </p:txBody>
      </p:sp>
      <p:sp>
        <p:nvSpPr>
          <p:cNvPr id="9" name="Text 7"/>
          <p:cNvSpPr/>
          <p:nvPr/>
        </p:nvSpPr>
        <p:spPr>
          <a:xfrm>
            <a:off x="1325880" y="1581912"/>
            <a:ext cx="2926080" cy="228600"/>
          </a:xfrm>
          <a:prstGeom prst="rect">
            <a:avLst/>
          </a:prstGeom>
          <a:noFill/>
          <a:ln/>
        </p:spPr>
        <p:txBody>
          <a:bodyPr wrap="square" lIns="0" tIns="0" rIns="0" bIns="0" rtlCol="0" anchor="ctr"/>
          <a:lstStyle/>
          <a:p>
            <a:pPr indent="0" marL="0">
              <a:buNone/>
            </a:pPr>
            <a:r>
              <a:rPr lang="en-US" sz="1000" i="1" dirty="0">
                <a:solidFill>
                  <a:srgbClr val="40916C"/>
                </a:solidFill>
                <a:latin typeface="Calibri" pitchFamily="34" charset="0"/>
                <a:ea typeface="Calibri" pitchFamily="34" charset="-122"/>
                <a:cs typeface="Calibri" pitchFamily="34" charset="-120"/>
              </a:rPr>
              <a:t>Resource-rich, high emissions</a:t>
            </a:r>
            <a:endParaRPr lang="en-US" sz="1000" dirty="0"/>
          </a:p>
        </p:txBody>
      </p:sp>
      <p:sp>
        <p:nvSpPr>
          <p:cNvPr id="10" name="Shape 8"/>
          <p:cNvSpPr/>
          <p:nvPr/>
        </p:nvSpPr>
        <p:spPr>
          <a:xfrm>
            <a:off x="4754880" y="1051560"/>
            <a:ext cx="384048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11" name="Shape 9"/>
          <p:cNvSpPr/>
          <p:nvPr/>
        </p:nvSpPr>
        <p:spPr>
          <a:xfrm>
            <a:off x="4892040" y="1234440"/>
            <a:ext cx="457200" cy="457200"/>
          </a:xfrm>
          <a:prstGeom prst="ellipse">
            <a:avLst/>
          </a:prstGeom>
          <a:solidFill>
            <a:srgbClr val="F59E0B"/>
          </a:solidFill>
          <a:ln/>
        </p:spPr>
      </p:sp>
      <p:sp>
        <p:nvSpPr>
          <p:cNvPr id="12" name="Text 10"/>
          <p:cNvSpPr/>
          <p:nvPr/>
        </p:nvSpPr>
        <p:spPr>
          <a:xfrm>
            <a:off x="4892040" y="1234440"/>
            <a:ext cx="45720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EU</a:t>
            </a:r>
            <a:endParaRPr lang="en-US" sz="800" dirty="0"/>
          </a:p>
        </p:txBody>
      </p:sp>
      <p:sp>
        <p:nvSpPr>
          <p:cNvPr id="13" name="Text 11"/>
          <p:cNvSpPr/>
          <p:nvPr/>
        </p:nvSpPr>
        <p:spPr>
          <a:xfrm>
            <a:off x="5440680" y="1124712"/>
            <a:ext cx="1371600" cy="27432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EU</a:t>
            </a:r>
            <a:endParaRPr lang="en-US" sz="1300" dirty="0"/>
          </a:p>
        </p:txBody>
      </p:sp>
      <p:sp>
        <p:nvSpPr>
          <p:cNvPr id="14" name="Text 12"/>
          <p:cNvSpPr/>
          <p:nvPr/>
        </p:nvSpPr>
        <p:spPr>
          <a:xfrm>
            <a:off x="5440680" y="1371600"/>
            <a:ext cx="2926080" cy="228600"/>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Pop 22 | B:30% G:70%</a:t>
            </a:r>
            <a:endParaRPr lang="en-US" sz="1000" dirty="0"/>
          </a:p>
        </p:txBody>
      </p:sp>
      <p:sp>
        <p:nvSpPr>
          <p:cNvPr id="15" name="Text 13"/>
          <p:cNvSpPr/>
          <p:nvPr/>
        </p:nvSpPr>
        <p:spPr>
          <a:xfrm>
            <a:off x="5440680" y="1581912"/>
            <a:ext cx="2926080" cy="228600"/>
          </a:xfrm>
          <a:prstGeom prst="rect">
            <a:avLst/>
          </a:prstGeom>
          <a:noFill/>
          <a:ln/>
        </p:spPr>
        <p:txBody>
          <a:bodyPr wrap="square" lIns="0" tIns="0" rIns="0" bIns="0" rtlCol="0" anchor="ctr"/>
          <a:lstStyle/>
          <a:p>
            <a:pPr indent="0" marL="0">
              <a:buNone/>
            </a:pPr>
            <a:r>
              <a:rPr lang="en-US" sz="1000" i="1" dirty="0">
                <a:solidFill>
                  <a:srgbClr val="40916C"/>
                </a:solidFill>
                <a:latin typeface="Calibri" pitchFamily="34" charset="0"/>
                <a:ea typeface="Calibri" pitchFamily="34" charset="-122"/>
                <a:cs typeface="Calibri" pitchFamily="34" charset="-120"/>
              </a:rPr>
              <a:t>Tech leader, green pioneer</a:t>
            </a:r>
            <a:endParaRPr lang="en-US" sz="1000" dirty="0"/>
          </a:p>
        </p:txBody>
      </p:sp>
      <p:sp>
        <p:nvSpPr>
          <p:cNvPr id="16" name="Shape 14"/>
          <p:cNvSpPr/>
          <p:nvPr/>
        </p:nvSpPr>
        <p:spPr>
          <a:xfrm>
            <a:off x="640080" y="2011680"/>
            <a:ext cx="384048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17" name="Shape 15"/>
          <p:cNvSpPr/>
          <p:nvPr/>
        </p:nvSpPr>
        <p:spPr>
          <a:xfrm>
            <a:off x="777240" y="2194560"/>
            <a:ext cx="457200" cy="457200"/>
          </a:xfrm>
          <a:prstGeom prst="ellipse">
            <a:avLst/>
          </a:prstGeom>
          <a:solidFill>
            <a:srgbClr val="EF4444"/>
          </a:solidFill>
          <a:ln/>
        </p:spPr>
      </p:sp>
      <p:sp>
        <p:nvSpPr>
          <p:cNvPr id="18" name="Text 16"/>
          <p:cNvSpPr/>
          <p:nvPr/>
        </p:nvSpPr>
        <p:spPr>
          <a:xfrm>
            <a:off x="777240" y="2194560"/>
            <a:ext cx="45720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Russia</a:t>
            </a:r>
            <a:endParaRPr lang="en-US" sz="800" dirty="0"/>
          </a:p>
        </p:txBody>
      </p:sp>
      <p:sp>
        <p:nvSpPr>
          <p:cNvPr id="19" name="Text 17"/>
          <p:cNvSpPr/>
          <p:nvPr/>
        </p:nvSpPr>
        <p:spPr>
          <a:xfrm>
            <a:off x="1325880" y="2084832"/>
            <a:ext cx="1371600" cy="27432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Russia</a:t>
            </a:r>
            <a:endParaRPr lang="en-US" sz="1300" dirty="0"/>
          </a:p>
        </p:txBody>
      </p:sp>
      <p:sp>
        <p:nvSpPr>
          <p:cNvPr id="20" name="Text 18"/>
          <p:cNvSpPr/>
          <p:nvPr/>
        </p:nvSpPr>
        <p:spPr>
          <a:xfrm>
            <a:off x="1325880" y="2331720"/>
            <a:ext cx="2926080" cy="228600"/>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Pop 18 | B:77% G:23%</a:t>
            </a:r>
            <a:endParaRPr lang="en-US" sz="1000" dirty="0"/>
          </a:p>
        </p:txBody>
      </p:sp>
      <p:sp>
        <p:nvSpPr>
          <p:cNvPr id="21" name="Text 19"/>
          <p:cNvSpPr/>
          <p:nvPr/>
        </p:nvSpPr>
        <p:spPr>
          <a:xfrm>
            <a:off x="1325880" y="2542032"/>
            <a:ext cx="2926080" cy="228600"/>
          </a:xfrm>
          <a:prstGeom prst="rect">
            <a:avLst/>
          </a:prstGeom>
          <a:noFill/>
          <a:ln/>
        </p:spPr>
        <p:txBody>
          <a:bodyPr wrap="square" lIns="0" tIns="0" rIns="0" bIns="0" rtlCol="0" anchor="ctr"/>
          <a:lstStyle/>
          <a:p>
            <a:pPr indent="0" marL="0">
              <a:buNone/>
            </a:pPr>
            <a:r>
              <a:rPr lang="en-US" sz="1000" i="1" dirty="0">
                <a:solidFill>
                  <a:srgbClr val="40916C"/>
                </a:solidFill>
                <a:latin typeface="Calibri" pitchFamily="34" charset="0"/>
                <a:ea typeface="Calibri" pitchFamily="34" charset="-122"/>
                <a:cs typeface="Calibri" pitchFamily="34" charset="-120"/>
              </a:rPr>
              <a:t>Fossil exporter, workforce deficit</a:t>
            </a:r>
            <a:endParaRPr lang="en-US" sz="1000" dirty="0"/>
          </a:p>
        </p:txBody>
      </p:sp>
      <p:sp>
        <p:nvSpPr>
          <p:cNvPr id="22" name="Shape 20"/>
          <p:cNvSpPr/>
          <p:nvPr/>
        </p:nvSpPr>
        <p:spPr>
          <a:xfrm>
            <a:off x="4754880" y="2011680"/>
            <a:ext cx="384048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23" name="Shape 21"/>
          <p:cNvSpPr/>
          <p:nvPr/>
        </p:nvSpPr>
        <p:spPr>
          <a:xfrm>
            <a:off x="4892040" y="2194560"/>
            <a:ext cx="457200" cy="457200"/>
          </a:xfrm>
          <a:prstGeom prst="ellipse">
            <a:avLst/>
          </a:prstGeom>
          <a:solidFill>
            <a:srgbClr val="DC2626"/>
          </a:solidFill>
          <a:ln/>
        </p:spPr>
      </p:sp>
      <p:sp>
        <p:nvSpPr>
          <p:cNvPr id="24" name="Text 22"/>
          <p:cNvSpPr/>
          <p:nvPr/>
        </p:nvSpPr>
        <p:spPr>
          <a:xfrm>
            <a:off x="4892040" y="2194560"/>
            <a:ext cx="45720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China</a:t>
            </a:r>
            <a:endParaRPr lang="en-US" sz="800" dirty="0"/>
          </a:p>
        </p:txBody>
      </p:sp>
      <p:sp>
        <p:nvSpPr>
          <p:cNvPr id="25" name="Text 23"/>
          <p:cNvSpPr/>
          <p:nvPr/>
        </p:nvSpPr>
        <p:spPr>
          <a:xfrm>
            <a:off x="5440680" y="2084832"/>
            <a:ext cx="1371600" cy="27432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China</a:t>
            </a:r>
            <a:endParaRPr lang="en-US" sz="1300" dirty="0"/>
          </a:p>
        </p:txBody>
      </p:sp>
      <p:sp>
        <p:nvSpPr>
          <p:cNvPr id="26" name="Text 24"/>
          <p:cNvSpPr/>
          <p:nvPr/>
        </p:nvSpPr>
        <p:spPr>
          <a:xfrm>
            <a:off x="5440680" y="2331720"/>
            <a:ext cx="2926080" cy="228600"/>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Pop 90 | B:54% G:46%</a:t>
            </a:r>
            <a:endParaRPr lang="en-US" sz="1000" dirty="0"/>
          </a:p>
        </p:txBody>
      </p:sp>
      <p:sp>
        <p:nvSpPr>
          <p:cNvPr id="27" name="Text 25"/>
          <p:cNvSpPr/>
          <p:nvPr/>
        </p:nvSpPr>
        <p:spPr>
          <a:xfrm>
            <a:off x="5440680" y="2542032"/>
            <a:ext cx="2926080" cy="228600"/>
          </a:xfrm>
          <a:prstGeom prst="rect">
            <a:avLst/>
          </a:prstGeom>
          <a:noFill/>
          <a:ln/>
        </p:spPr>
        <p:txBody>
          <a:bodyPr wrap="square" lIns="0" tIns="0" rIns="0" bIns="0" rtlCol="0" anchor="ctr"/>
          <a:lstStyle/>
          <a:p>
            <a:pPr indent="0" marL="0">
              <a:buNone/>
            </a:pPr>
            <a:r>
              <a:rPr lang="en-US" sz="1000" i="1" dirty="0">
                <a:solidFill>
                  <a:srgbClr val="40916C"/>
                </a:solidFill>
                <a:latin typeface="Calibri" pitchFamily="34" charset="0"/>
                <a:ea typeface="Calibri" pitchFamily="34" charset="-122"/>
                <a:cs typeface="Calibri" pitchFamily="34" charset="-120"/>
              </a:rPr>
              <a:t>Largest population, in transition</a:t>
            </a:r>
            <a:endParaRPr lang="en-US" sz="1000" dirty="0"/>
          </a:p>
        </p:txBody>
      </p:sp>
      <p:sp>
        <p:nvSpPr>
          <p:cNvPr id="28" name="Shape 26"/>
          <p:cNvSpPr/>
          <p:nvPr/>
        </p:nvSpPr>
        <p:spPr>
          <a:xfrm>
            <a:off x="640080" y="2971800"/>
            <a:ext cx="384048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29" name="Shape 27"/>
          <p:cNvSpPr/>
          <p:nvPr/>
        </p:nvSpPr>
        <p:spPr>
          <a:xfrm>
            <a:off x="777240" y="3154680"/>
            <a:ext cx="457200" cy="457200"/>
          </a:xfrm>
          <a:prstGeom prst="ellipse">
            <a:avLst/>
          </a:prstGeom>
          <a:solidFill>
            <a:srgbClr val="F97316"/>
          </a:solidFill>
          <a:ln/>
        </p:spPr>
      </p:sp>
      <p:sp>
        <p:nvSpPr>
          <p:cNvPr id="30" name="Text 28"/>
          <p:cNvSpPr/>
          <p:nvPr/>
        </p:nvSpPr>
        <p:spPr>
          <a:xfrm>
            <a:off x="777240" y="3154680"/>
            <a:ext cx="45720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India</a:t>
            </a:r>
            <a:endParaRPr lang="en-US" sz="800" dirty="0"/>
          </a:p>
        </p:txBody>
      </p:sp>
      <p:sp>
        <p:nvSpPr>
          <p:cNvPr id="31" name="Text 29"/>
          <p:cNvSpPr/>
          <p:nvPr/>
        </p:nvSpPr>
        <p:spPr>
          <a:xfrm>
            <a:off x="1325880" y="3044952"/>
            <a:ext cx="1371600" cy="27432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India</a:t>
            </a:r>
            <a:endParaRPr lang="en-US" sz="1300" dirty="0"/>
          </a:p>
        </p:txBody>
      </p:sp>
      <p:sp>
        <p:nvSpPr>
          <p:cNvPr id="32" name="Text 30"/>
          <p:cNvSpPr/>
          <p:nvPr/>
        </p:nvSpPr>
        <p:spPr>
          <a:xfrm>
            <a:off x="1325880" y="3291840"/>
            <a:ext cx="2926080" cy="228600"/>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Pop 88 | B:40% G:60%</a:t>
            </a:r>
            <a:endParaRPr lang="en-US" sz="1000" dirty="0"/>
          </a:p>
        </p:txBody>
      </p:sp>
      <p:sp>
        <p:nvSpPr>
          <p:cNvPr id="33" name="Text 31"/>
          <p:cNvSpPr/>
          <p:nvPr/>
        </p:nvSpPr>
        <p:spPr>
          <a:xfrm>
            <a:off x="1325880" y="3502152"/>
            <a:ext cx="2926080" cy="228600"/>
          </a:xfrm>
          <a:prstGeom prst="rect">
            <a:avLst/>
          </a:prstGeom>
          <a:noFill/>
          <a:ln/>
        </p:spPr>
        <p:txBody>
          <a:bodyPr wrap="square" lIns="0" tIns="0" rIns="0" bIns="0" rtlCol="0" anchor="ctr"/>
          <a:lstStyle/>
          <a:p>
            <a:pPr indent="0" marL="0">
              <a:buNone/>
            </a:pPr>
            <a:r>
              <a:rPr lang="en-US" sz="1000" i="1" dirty="0">
                <a:solidFill>
                  <a:srgbClr val="40916C"/>
                </a:solidFill>
                <a:latin typeface="Calibri" pitchFamily="34" charset="0"/>
                <a:ea typeface="Calibri" pitchFamily="34" charset="-122"/>
                <a:cs typeface="Calibri" pitchFamily="34" charset="-120"/>
              </a:rPr>
              <a:t>Low emissions, capital shortage</a:t>
            </a:r>
            <a:endParaRPr lang="en-US" sz="1000" dirty="0"/>
          </a:p>
        </p:txBody>
      </p:sp>
      <p:sp>
        <p:nvSpPr>
          <p:cNvPr id="34" name="Shape 32"/>
          <p:cNvSpPr/>
          <p:nvPr/>
        </p:nvSpPr>
        <p:spPr>
          <a:xfrm>
            <a:off x="4754880" y="2971800"/>
            <a:ext cx="384048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35" name="Shape 33"/>
          <p:cNvSpPr/>
          <p:nvPr/>
        </p:nvSpPr>
        <p:spPr>
          <a:xfrm>
            <a:off x="4892040" y="3154680"/>
            <a:ext cx="457200" cy="457200"/>
          </a:xfrm>
          <a:prstGeom prst="ellipse">
            <a:avLst/>
          </a:prstGeom>
          <a:solidFill>
            <a:srgbClr val="A855F7"/>
          </a:solidFill>
          <a:ln/>
        </p:spPr>
      </p:sp>
      <p:sp>
        <p:nvSpPr>
          <p:cNvPr id="36" name="Text 34"/>
          <p:cNvSpPr/>
          <p:nvPr/>
        </p:nvSpPr>
        <p:spPr>
          <a:xfrm>
            <a:off x="4892040" y="3154680"/>
            <a:ext cx="45720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OPEC+</a:t>
            </a:r>
            <a:endParaRPr lang="en-US" sz="800" dirty="0"/>
          </a:p>
        </p:txBody>
      </p:sp>
      <p:sp>
        <p:nvSpPr>
          <p:cNvPr id="37" name="Text 35"/>
          <p:cNvSpPr/>
          <p:nvPr/>
        </p:nvSpPr>
        <p:spPr>
          <a:xfrm>
            <a:off x="5440680" y="3044952"/>
            <a:ext cx="1371600" cy="27432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OPEC+</a:t>
            </a:r>
            <a:endParaRPr lang="en-US" sz="1300" dirty="0"/>
          </a:p>
        </p:txBody>
      </p:sp>
      <p:sp>
        <p:nvSpPr>
          <p:cNvPr id="38" name="Text 36"/>
          <p:cNvSpPr/>
          <p:nvPr/>
        </p:nvSpPr>
        <p:spPr>
          <a:xfrm>
            <a:off x="5440680" y="3291840"/>
            <a:ext cx="2926080" cy="228600"/>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Pop 28 | B:90% G:10%</a:t>
            </a:r>
            <a:endParaRPr lang="en-US" sz="1000" dirty="0"/>
          </a:p>
        </p:txBody>
      </p:sp>
      <p:sp>
        <p:nvSpPr>
          <p:cNvPr id="39" name="Text 37"/>
          <p:cNvSpPr/>
          <p:nvPr/>
        </p:nvSpPr>
        <p:spPr>
          <a:xfrm>
            <a:off x="5440680" y="3502152"/>
            <a:ext cx="2926080" cy="228600"/>
          </a:xfrm>
          <a:prstGeom prst="rect">
            <a:avLst/>
          </a:prstGeom>
          <a:noFill/>
          <a:ln/>
        </p:spPr>
        <p:txBody>
          <a:bodyPr wrap="square" lIns="0" tIns="0" rIns="0" bIns="0" rtlCol="0" anchor="ctr"/>
          <a:lstStyle/>
          <a:p>
            <a:pPr indent="0" marL="0">
              <a:buNone/>
            </a:pPr>
            <a:r>
              <a:rPr lang="en-US" sz="1000" i="1" dirty="0">
                <a:solidFill>
                  <a:srgbClr val="40916C"/>
                </a:solidFill>
                <a:latin typeface="Calibri" pitchFamily="34" charset="0"/>
                <a:ea typeface="Calibri" pitchFamily="34" charset="-122"/>
                <a:cs typeface="Calibri" pitchFamily="34" charset="-120"/>
              </a:rPr>
              <a:t>Oil dependent, fossil trap</a:t>
            </a:r>
            <a:endParaRPr lang="en-US" sz="1000" dirty="0"/>
          </a:p>
        </p:txBody>
      </p:sp>
      <p:sp>
        <p:nvSpPr>
          <p:cNvPr id="40" name="Shape 38"/>
          <p:cNvSpPr/>
          <p:nvPr/>
        </p:nvSpPr>
        <p:spPr>
          <a:xfrm>
            <a:off x="640080" y="3931920"/>
            <a:ext cx="384048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41" name="Shape 39"/>
          <p:cNvSpPr/>
          <p:nvPr/>
        </p:nvSpPr>
        <p:spPr>
          <a:xfrm>
            <a:off x="777240" y="4114800"/>
            <a:ext cx="457200" cy="457200"/>
          </a:xfrm>
          <a:prstGeom prst="ellipse">
            <a:avLst/>
          </a:prstGeom>
          <a:solidFill>
            <a:srgbClr val="22C55E"/>
          </a:solidFill>
          <a:ln/>
        </p:spPr>
      </p:sp>
      <p:sp>
        <p:nvSpPr>
          <p:cNvPr id="42" name="Text 40"/>
          <p:cNvSpPr/>
          <p:nvPr/>
        </p:nvSpPr>
        <p:spPr>
          <a:xfrm>
            <a:off x="777240" y="4114800"/>
            <a:ext cx="45720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LatAm</a:t>
            </a:r>
            <a:endParaRPr lang="en-US" sz="800" dirty="0"/>
          </a:p>
        </p:txBody>
      </p:sp>
      <p:sp>
        <p:nvSpPr>
          <p:cNvPr id="43" name="Text 41"/>
          <p:cNvSpPr/>
          <p:nvPr/>
        </p:nvSpPr>
        <p:spPr>
          <a:xfrm>
            <a:off x="1325880" y="4005072"/>
            <a:ext cx="1371600" cy="27432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LatAm</a:t>
            </a:r>
            <a:endParaRPr lang="en-US" sz="1300" dirty="0"/>
          </a:p>
        </p:txBody>
      </p:sp>
      <p:sp>
        <p:nvSpPr>
          <p:cNvPr id="44" name="Text 42"/>
          <p:cNvSpPr/>
          <p:nvPr/>
        </p:nvSpPr>
        <p:spPr>
          <a:xfrm>
            <a:off x="1325880" y="4251960"/>
            <a:ext cx="2926080" cy="228600"/>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Pop 45 | B:35% G:65%</a:t>
            </a:r>
            <a:endParaRPr lang="en-US" sz="1000" dirty="0"/>
          </a:p>
        </p:txBody>
      </p:sp>
      <p:sp>
        <p:nvSpPr>
          <p:cNvPr id="45" name="Text 43"/>
          <p:cNvSpPr/>
          <p:nvPr/>
        </p:nvSpPr>
        <p:spPr>
          <a:xfrm>
            <a:off x="1325880" y="4462272"/>
            <a:ext cx="2926080" cy="228600"/>
          </a:xfrm>
          <a:prstGeom prst="rect">
            <a:avLst/>
          </a:prstGeom>
          <a:noFill/>
          <a:ln/>
        </p:spPr>
        <p:txBody>
          <a:bodyPr wrap="square" lIns="0" tIns="0" rIns="0" bIns="0" rtlCol="0" anchor="ctr"/>
          <a:lstStyle/>
          <a:p>
            <a:pPr indent="0" marL="0">
              <a:buNone/>
            </a:pPr>
            <a:r>
              <a:rPr lang="en-US" sz="1000" i="1" dirty="0">
                <a:solidFill>
                  <a:srgbClr val="40916C"/>
                </a:solidFill>
                <a:latin typeface="Calibri" pitchFamily="34" charset="0"/>
                <a:ea typeface="Calibri" pitchFamily="34" charset="-122"/>
                <a:cs typeface="Calibri" pitchFamily="34" charset="-120"/>
              </a:rPr>
              <a:t>Food surplus, biodiversity</a:t>
            </a:r>
            <a:endParaRPr lang="en-US" sz="1000" dirty="0"/>
          </a:p>
        </p:txBody>
      </p:sp>
      <p:sp>
        <p:nvSpPr>
          <p:cNvPr id="46" name="Shape 44"/>
          <p:cNvSpPr/>
          <p:nvPr/>
        </p:nvSpPr>
        <p:spPr>
          <a:xfrm>
            <a:off x="4754880" y="3931920"/>
            <a:ext cx="3840480" cy="822960"/>
          </a:xfrm>
          <a:prstGeom prst="roundRect">
            <a:avLst>
              <a:gd name="adj" fmla="val 8889"/>
            </a:avLst>
          </a:prstGeom>
          <a:solidFill>
            <a:srgbClr val="FFFFFF"/>
          </a:solidFill>
          <a:ln/>
          <a:effectLst>
            <a:outerShdw sx="100000" sy="100000" kx="0" ky="0" algn="bl" rotWithShape="0" blurRad="101600" dist="38100" dir="2700000">
              <a:srgbClr val="000000">
                <a:alpha val="12000"/>
              </a:srgbClr>
            </a:outerShdw>
          </a:effectLst>
        </p:spPr>
      </p:sp>
      <p:sp>
        <p:nvSpPr>
          <p:cNvPr id="47" name="Shape 45"/>
          <p:cNvSpPr/>
          <p:nvPr/>
        </p:nvSpPr>
        <p:spPr>
          <a:xfrm>
            <a:off x="4892040" y="4114800"/>
            <a:ext cx="457200" cy="457200"/>
          </a:xfrm>
          <a:prstGeom prst="ellipse">
            <a:avLst/>
          </a:prstGeom>
          <a:solidFill>
            <a:srgbClr val="FB923C"/>
          </a:solidFill>
          <a:ln/>
        </p:spPr>
      </p:sp>
      <p:sp>
        <p:nvSpPr>
          <p:cNvPr id="48" name="Text 46"/>
          <p:cNvSpPr/>
          <p:nvPr/>
        </p:nvSpPr>
        <p:spPr>
          <a:xfrm>
            <a:off x="4892040" y="4114800"/>
            <a:ext cx="457200"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Africa</a:t>
            </a:r>
            <a:endParaRPr lang="en-US" sz="800" dirty="0"/>
          </a:p>
        </p:txBody>
      </p:sp>
      <p:sp>
        <p:nvSpPr>
          <p:cNvPr id="49" name="Text 47"/>
          <p:cNvSpPr/>
          <p:nvPr/>
        </p:nvSpPr>
        <p:spPr>
          <a:xfrm>
            <a:off x="5440680" y="4005072"/>
            <a:ext cx="1371600" cy="27432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Africa</a:t>
            </a:r>
            <a:endParaRPr lang="en-US" sz="1300" dirty="0"/>
          </a:p>
        </p:txBody>
      </p:sp>
      <p:sp>
        <p:nvSpPr>
          <p:cNvPr id="50" name="Text 48"/>
          <p:cNvSpPr/>
          <p:nvPr/>
        </p:nvSpPr>
        <p:spPr>
          <a:xfrm>
            <a:off x="5440680" y="4251960"/>
            <a:ext cx="2926080" cy="228600"/>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Pop 88 | B:33% G:67%</a:t>
            </a:r>
            <a:endParaRPr lang="en-US" sz="1000" dirty="0"/>
          </a:p>
        </p:txBody>
      </p:sp>
      <p:sp>
        <p:nvSpPr>
          <p:cNvPr id="51" name="Text 49"/>
          <p:cNvSpPr/>
          <p:nvPr/>
        </p:nvSpPr>
        <p:spPr>
          <a:xfrm>
            <a:off x="5440680" y="4462272"/>
            <a:ext cx="2926080" cy="228600"/>
          </a:xfrm>
          <a:prstGeom prst="rect">
            <a:avLst/>
          </a:prstGeom>
          <a:noFill/>
          <a:ln/>
        </p:spPr>
        <p:txBody>
          <a:bodyPr wrap="square" lIns="0" tIns="0" rIns="0" bIns="0" rtlCol="0" anchor="ctr"/>
          <a:lstStyle/>
          <a:p>
            <a:pPr indent="0" marL="0">
              <a:buNone/>
            </a:pPr>
            <a:r>
              <a:rPr lang="en-US" sz="1000" i="1" dirty="0">
                <a:solidFill>
                  <a:srgbClr val="40916C"/>
                </a:solidFill>
                <a:latin typeface="Calibri" pitchFamily="34" charset="0"/>
                <a:ea typeface="Calibri" pitchFamily="34" charset="-122"/>
                <a:cs typeface="Calibri" pitchFamily="34" charset="-120"/>
              </a:rPr>
              <a:t>Solar potential, energy poverty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Population &amp; Resources — The Rich-Poor Divide</a:t>
            </a:r>
            <a:endParaRPr lang="en-US" sz="2400" dirty="0"/>
          </a:p>
        </p:txBody>
      </p:sp>
      <p:sp>
        <p:nvSpPr>
          <p:cNvPr id="4" name="Shape 2"/>
          <p:cNvSpPr/>
          <p:nvPr/>
        </p:nvSpPr>
        <p:spPr>
          <a:xfrm>
            <a:off x="640080" y="1097280"/>
            <a:ext cx="7863840" cy="1097280"/>
          </a:xfrm>
          <a:prstGeom prst="roundRect">
            <a:avLst>
              <a:gd name="adj" fmla="val 8333"/>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822960" y="1188720"/>
            <a:ext cx="7498080" cy="365760"/>
          </a:xfrm>
          <a:prstGeom prst="rect">
            <a:avLst/>
          </a:prstGeom>
          <a:noFill/>
          <a:ln/>
        </p:spPr>
        <p:txBody>
          <a:bodyPr wrap="square" lIns="0" tIns="0" rIns="0" bIns="0" rtlCol="0" anchor="ctr"/>
          <a:lstStyle/>
          <a:p>
            <a:pPr indent="0" marL="0">
              <a:buNone/>
            </a:pPr>
            <a:r>
              <a:rPr lang="en-US" sz="1400" b="1" dirty="0">
                <a:solidFill>
                  <a:srgbClr val="1B4332"/>
                </a:solidFill>
                <a:latin typeface="Calibri" pitchFamily="34" charset="0"/>
                <a:ea typeface="Calibri" pitchFamily="34" charset="-122"/>
                <a:cs typeface="Calibri" pitchFamily="34" charset="-120"/>
              </a:rPr>
              <a:t>Per-capita consumption per cycle: 3 food + 2 energy + 1 money per 100 population</a:t>
            </a:r>
            <a:endParaRPr lang="en-US" sz="1400" dirty="0"/>
          </a:p>
        </p:txBody>
      </p:sp>
      <p:sp>
        <p:nvSpPr>
          <p:cNvPr id="6" name="Text 4"/>
          <p:cNvSpPr/>
          <p:nvPr/>
        </p:nvSpPr>
        <p:spPr>
          <a:xfrm>
            <a:off x="822960" y="1645920"/>
            <a:ext cx="7498080" cy="45720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Large-population developing countries must invest in basic sustenance before they can afford green transition.</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Small rich countries have the luxury of long-term planning.</a:t>
            </a:r>
            <a:endParaRPr lang="en-US" sz="1200" dirty="0"/>
          </a:p>
        </p:txBody>
      </p:sp>
      <p:sp>
        <p:nvSpPr>
          <p:cNvPr id="7" name="Text 5"/>
          <p:cNvSpPr/>
          <p:nvPr/>
        </p:nvSpPr>
        <p:spPr>
          <a:xfrm>
            <a:off x="822960" y="2468880"/>
            <a:ext cx="7498080" cy="320040"/>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Food Runway (cycles until starvation without farms)</a:t>
            </a:r>
            <a:endParaRPr lang="en-US" sz="1300" dirty="0"/>
          </a:p>
        </p:txBody>
      </p:sp>
      <p:sp>
        <p:nvSpPr>
          <p:cNvPr id="8" name="Text 6"/>
          <p:cNvSpPr/>
          <p:nvPr/>
        </p:nvSpPr>
        <p:spPr>
          <a:xfrm>
            <a:off x="822960" y="2834640"/>
            <a:ext cx="1371600" cy="27432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USA (33)</a:t>
            </a:r>
            <a:endParaRPr lang="en-US" sz="1100" dirty="0"/>
          </a:p>
        </p:txBody>
      </p:sp>
      <p:sp>
        <p:nvSpPr>
          <p:cNvPr id="9" name="Shape 7"/>
          <p:cNvSpPr/>
          <p:nvPr/>
        </p:nvSpPr>
        <p:spPr>
          <a:xfrm>
            <a:off x="2286000" y="2871216"/>
            <a:ext cx="5029200" cy="201168"/>
          </a:xfrm>
          <a:prstGeom prst="roundRect">
            <a:avLst>
              <a:gd name="adj" fmla="val 22727"/>
            </a:avLst>
          </a:prstGeom>
          <a:solidFill>
            <a:srgbClr val="3B82F6"/>
          </a:solidFill>
          <a:ln/>
        </p:spPr>
      </p:sp>
      <p:sp>
        <p:nvSpPr>
          <p:cNvPr id="10" name="Text 8"/>
          <p:cNvSpPr/>
          <p:nvPr/>
        </p:nvSpPr>
        <p:spPr>
          <a:xfrm>
            <a:off x="7406640" y="2834640"/>
            <a:ext cx="109728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30 cycles</a:t>
            </a:r>
            <a:endParaRPr lang="en-US" sz="1100" dirty="0"/>
          </a:p>
        </p:txBody>
      </p:sp>
      <p:sp>
        <p:nvSpPr>
          <p:cNvPr id="11" name="Text 9"/>
          <p:cNvSpPr/>
          <p:nvPr/>
        </p:nvSpPr>
        <p:spPr>
          <a:xfrm>
            <a:off x="822960" y="3182112"/>
            <a:ext cx="1371600" cy="27432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EU (22)</a:t>
            </a:r>
            <a:endParaRPr lang="en-US" sz="1100" dirty="0"/>
          </a:p>
        </p:txBody>
      </p:sp>
      <p:sp>
        <p:nvSpPr>
          <p:cNvPr id="12" name="Shape 10"/>
          <p:cNvSpPr/>
          <p:nvPr/>
        </p:nvSpPr>
        <p:spPr>
          <a:xfrm>
            <a:off x="2286000" y="3218688"/>
            <a:ext cx="4191000" cy="201168"/>
          </a:xfrm>
          <a:prstGeom prst="roundRect">
            <a:avLst>
              <a:gd name="adj" fmla="val 22727"/>
            </a:avLst>
          </a:prstGeom>
          <a:solidFill>
            <a:srgbClr val="F59E0B"/>
          </a:solidFill>
          <a:ln/>
        </p:spPr>
      </p:sp>
      <p:sp>
        <p:nvSpPr>
          <p:cNvPr id="13" name="Text 11"/>
          <p:cNvSpPr/>
          <p:nvPr/>
        </p:nvSpPr>
        <p:spPr>
          <a:xfrm>
            <a:off x="6568440" y="3182112"/>
            <a:ext cx="109728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25 cycles</a:t>
            </a:r>
            <a:endParaRPr lang="en-US" sz="1100" dirty="0"/>
          </a:p>
        </p:txBody>
      </p:sp>
      <p:sp>
        <p:nvSpPr>
          <p:cNvPr id="14" name="Text 12"/>
          <p:cNvSpPr/>
          <p:nvPr/>
        </p:nvSpPr>
        <p:spPr>
          <a:xfrm>
            <a:off x="822960" y="3529584"/>
            <a:ext cx="1371600" cy="27432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China (90)</a:t>
            </a:r>
            <a:endParaRPr lang="en-US" sz="1100" dirty="0"/>
          </a:p>
        </p:txBody>
      </p:sp>
      <p:sp>
        <p:nvSpPr>
          <p:cNvPr id="15" name="Shape 13"/>
          <p:cNvSpPr/>
          <p:nvPr/>
        </p:nvSpPr>
        <p:spPr>
          <a:xfrm>
            <a:off x="2286000" y="3566160"/>
            <a:ext cx="1508760" cy="201168"/>
          </a:xfrm>
          <a:prstGeom prst="roundRect">
            <a:avLst>
              <a:gd name="adj" fmla="val 22727"/>
            </a:avLst>
          </a:prstGeom>
          <a:solidFill>
            <a:srgbClr val="DC2626"/>
          </a:solidFill>
          <a:ln/>
        </p:spPr>
      </p:sp>
      <p:sp>
        <p:nvSpPr>
          <p:cNvPr id="16" name="Text 14"/>
          <p:cNvSpPr/>
          <p:nvPr/>
        </p:nvSpPr>
        <p:spPr>
          <a:xfrm>
            <a:off x="3886200" y="3529584"/>
            <a:ext cx="1097280" cy="274320"/>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9 cycles</a:t>
            </a:r>
            <a:endParaRPr lang="en-US" sz="1100" dirty="0"/>
          </a:p>
        </p:txBody>
      </p:sp>
      <p:sp>
        <p:nvSpPr>
          <p:cNvPr id="17" name="Text 15"/>
          <p:cNvSpPr/>
          <p:nvPr/>
        </p:nvSpPr>
        <p:spPr>
          <a:xfrm>
            <a:off x="822960" y="3877056"/>
            <a:ext cx="1371600" cy="27432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India (88)</a:t>
            </a:r>
            <a:endParaRPr lang="en-US" sz="1100" dirty="0"/>
          </a:p>
        </p:txBody>
      </p:sp>
      <p:sp>
        <p:nvSpPr>
          <p:cNvPr id="18" name="Shape 16"/>
          <p:cNvSpPr/>
          <p:nvPr/>
        </p:nvSpPr>
        <p:spPr>
          <a:xfrm>
            <a:off x="2286000" y="3913632"/>
            <a:ext cx="1341120" cy="201168"/>
          </a:xfrm>
          <a:prstGeom prst="roundRect">
            <a:avLst>
              <a:gd name="adj" fmla="val 22727"/>
            </a:avLst>
          </a:prstGeom>
          <a:solidFill>
            <a:srgbClr val="F97316"/>
          </a:solidFill>
          <a:ln/>
        </p:spPr>
      </p:sp>
      <p:sp>
        <p:nvSpPr>
          <p:cNvPr id="19" name="Text 17"/>
          <p:cNvSpPr/>
          <p:nvPr/>
        </p:nvSpPr>
        <p:spPr>
          <a:xfrm>
            <a:off x="3718560" y="3877056"/>
            <a:ext cx="1097280" cy="274320"/>
          </a:xfrm>
          <a:prstGeom prst="rect">
            <a:avLst/>
          </a:prstGeom>
          <a:noFill/>
          <a:ln/>
        </p:spPr>
        <p:txBody>
          <a:bodyPr wrap="square" lIns="0" tIns="0" rIns="0" bIns="0" rtlCol="0" anchor="ctr"/>
          <a:lstStyle/>
          <a:p>
            <a:pPr indent="0" marL="0">
              <a:buNone/>
            </a:pPr>
            <a:r>
              <a:rPr lang="en-US" sz="1100" b="1" dirty="0">
                <a:solidFill>
                  <a:srgbClr val="F97316"/>
                </a:solidFill>
                <a:latin typeface="Calibri" pitchFamily="34" charset="0"/>
                <a:ea typeface="Calibri" pitchFamily="34" charset="-122"/>
                <a:cs typeface="Calibri" pitchFamily="34" charset="-120"/>
              </a:rPr>
              <a:t>8 cycles</a:t>
            </a:r>
            <a:endParaRPr lang="en-US" sz="1100" dirty="0"/>
          </a:p>
        </p:txBody>
      </p:sp>
      <p:sp>
        <p:nvSpPr>
          <p:cNvPr id="20" name="Text 18"/>
          <p:cNvSpPr/>
          <p:nvPr/>
        </p:nvSpPr>
        <p:spPr>
          <a:xfrm>
            <a:off x="822960" y="4224528"/>
            <a:ext cx="1371600" cy="27432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Africa (88)</a:t>
            </a:r>
            <a:endParaRPr lang="en-US" sz="1100" dirty="0"/>
          </a:p>
        </p:txBody>
      </p:sp>
      <p:sp>
        <p:nvSpPr>
          <p:cNvPr id="21" name="Shape 19"/>
          <p:cNvSpPr/>
          <p:nvPr/>
        </p:nvSpPr>
        <p:spPr>
          <a:xfrm>
            <a:off x="2286000" y="4261104"/>
            <a:ext cx="1005840" cy="201168"/>
          </a:xfrm>
          <a:prstGeom prst="roundRect">
            <a:avLst>
              <a:gd name="adj" fmla="val 22727"/>
            </a:avLst>
          </a:prstGeom>
          <a:solidFill>
            <a:srgbClr val="FB923C"/>
          </a:solidFill>
          <a:ln/>
        </p:spPr>
      </p:sp>
      <p:sp>
        <p:nvSpPr>
          <p:cNvPr id="22" name="Text 20"/>
          <p:cNvSpPr/>
          <p:nvPr/>
        </p:nvSpPr>
        <p:spPr>
          <a:xfrm>
            <a:off x="3383280" y="4224528"/>
            <a:ext cx="1097280" cy="274320"/>
          </a:xfrm>
          <a:prstGeom prst="rect">
            <a:avLst/>
          </a:prstGeom>
          <a:noFill/>
          <a:ln/>
        </p:spPr>
        <p:txBody>
          <a:bodyPr wrap="square" lIns="0" tIns="0" rIns="0" bIns="0" rtlCol="0" anchor="ctr"/>
          <a:lstStyle/>
          <a:p>
            <a:pPr indent="0" marL="0">
              <a:buNone/>
            </a:pPr>
            <a:r>
              <a:rPr lang="en-US" sz="1100" b="1" dirty="0">
                <a:solidFill>
                  <a:srgbClr val="FB923C"/>
                </a:solidFill>
                <a:latin typeface="Calibri" pitchFamily="34" charset="0"/>
                <a:ea typeface="Calibri" pitchFamily="34" charset="-122"/>
                <a:cs typeface="Calibri" pitchFamily="34" charset="-120"/>
              </a:rPr>
              <a:t>6 cycles</a:t>
            </a:r>
            <a:endParaRPr lang="en-US" sz="1100" dirty="0"/>
          </a:p>
        </p:txBody>
      </p:sp>
      <p:sp>
        <p:nvSpPr>
          <p:cNvPr id="23" name="Text 21"/>
          <p:cNvSpPr/>
          <p:nvPr/>
        </p:nvSpPr>
        <p:spPr>
          <a:xfrm>
            <a:off x="822960" y="4663440"/>
            <a:ext cx="7498080" cy="274320"/>
          </a:xfrm>
          <a:prstGeom prst="rect">
            <a:avLst/>
          </a:prstGeom>
          <a:noFill/>
          <a:ln/>
        </p:spPr>
        <p:txBody>
          <a:bodyPr wrap="square" lIns="0" tIns="0" rIns="0" bIns="0" rtlCol="0" anchor="ctr"/>
          <a:lstStyle/>
          <a:p>
            <a:pPr indent="0" marL="0">
              <a:buNone/>
            </a:pPr>
            <a:r>
              <a:rPr lang="en-US" sz="1200" i="1" dirty="0">
                <a:solidFill>
                  <a:srgbClr val="2D6A4F"/>
                </a:solidFill>
                <a:latin typeface="Calibri" pitchFamily="34" charset="0"/>
                <a:ea typeface="Calibri" pitchFamily="34" charset="-122"/>
                <a:cs typeface="Calibri" pitchFamily="34" charset="-120"/>
              </a:rPr>
              <a:t>This asymmetry IS the rich-poor divide — it's not scripted, it emerges from the mechanics.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Technical Architecture</a:t>
            </a:r>
            <a:endParaRPr lang="en-US" sz="2400" dirty="0"/>
          </a:p>
        </p:txBody>
      </p:sp>
      <p:sp>
        <p:nvSpPr>
          <p:cNvPr id="4" name="Shape 2"/>
          <p:cNvSpPr/>
          <p:nvPr/>
        </p:nvSpPr>
        <p:spPr>
          <a:xfrm>
            <a:off x="640080" y="1188720"/>
            <a:ext cx="7863840" cy="457200"/>
          </a:xfrm>
          <a:prstGeom prst="roundRect">
            <a:avLst>
              <a:gd name="adj" fmla="val 16000"/>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822960" y="1234440"/>
            <a:ext cx="1645920" cy="36576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Frontend</a:t>
            </a:r>
            <a:endParaRPr lang="en-US" sz="1300" dirty="0"/>
          </a:p>
        </p:txBody>
      </p:sp>
      <p:sp>
        <p:nvSpPr>
          <p:cNvPr id="6" name="Text 4"/>
          <p:cNvSpPr/>
          <p:nvPr/>
        </p:nvSpPr>
        <p:spPr>
          <a:xfrm>
            <a:off x="2560320" y="1234440"/>
            <a:ext cx="5760720" cy="36576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React 19 + TypeScript + Vite 8</a:t>
            </a:r>
            <a:endParaRPr lang="en-US" sz="1300" dirty="0"/>
          </a:p>
        </p:txBody>
      </p:sp>
      <p:sp>
        <p:nvSpPr>
          <p:cNvPr id="7" name="Shape 5"/>
          <p:cNvSpPr/>
          <p:nvPr/>
        </p:nvSpPr>
        <p:spPr>
          <a:xfrm>
            <a:off x="640080" y="1737360"/>
            <a:ext cx="7863840" cy="457200"/>
          </a:xfrm>
          <a:prstGeom prst="roundRect">
            <a:avLst>
              <a:gd name="adj" fmla="val 16000"/>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822960" y="1783080"/>
            <a:ext cx="1645920" cy="36576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Multiplayer</a:t>
            </a:r>
            <a:endParaRPr lang="en-US" sz="1300" dirty="0"/>
          </a:p>
        </p:txBody>
      </p:sp>
      <p:sp>
        <p:nvSpPr>
          <p:cNvPr id="9" name="Text 7"/>
          <p:cNvSpPr/>
          <p:nvPr/>
        </p:nvSpPr>
        <p:spPr>
          <a:xfrm>
            <a:off x="2560320" y="1783080"/>
            <a:ext cx="5760720" cy="36576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Firebase Realtime Database</a:t>
            </a:r>
            <a:endParaRPr lang="en-US" sz="1300" dirty="0"/>
          </a:p>
        </p:txBody>
      </p:sp>
      <p:sp>
        <p:nvSpPr>
          <p:cNvPr id="10" name="Shape 8"/>
          <p:cNvSpPr/>
          <p:nvPr/>
        </p:nvSpPr>
        <p:spPr>
          <a:xfrm>
            <a:off x="640080" y="2286000"/>
            <a:ext cx="7863840" cy="457200"/>
          </a:xfrm>
          <a:prstGeom prst="roundRect">
            <a:avLst>
              <a:gd name="adj" fmla="val 16000"/>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822960" y="2331720"/>
            <a:ext cx="1645920" cy="36576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Deployment</a:t>
            </a:r>
            <a:endParaRPr lang="en-US" sz="1300" dirty="0"/>
          </a:p>
        </p:txBody>
      </p:sp>
      <p:sp>
        <p:nvSpPr>
          <p:cNvPr id="12" name="Text 10"/>
          <p:cNvSpPr/>
          <p:nvPr/>
        </p:nvSpPr>
        <p:spPr>
          <a:xfrm>
            <a:off x="2560320" y="2331720"/>
            <a:ext cx="5760720" cy="36576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Vercel (serverless)</a:t>
            </a:r>
            <a:endParaRPr lang="en-US" sz="1300" dirty="0"/>
          </a:p>
        </p:txBody>
      </p:sp>
      <p:sp>
        <p:nvSpPr>
          <p:cNvPr id="13" name="Shape 11"/>
          <p:cNvSpPr/>
          <p:nvPr/>
        </p:nvSpPr>
        <p:spPr>
          <a:xfrm>
            <a:off x="640080" y="2834640"/>
            <a:ext cx="7863840" cy="457200"/>
          </a:xfrm>
          <a:prstGeom prst="roundRect">
            <a:avLst>
              <a:gd name="adj" fmla="val 16000"/>
            </a:avLst>
          </a:prstGeom>
          <a:solidFill>
            <a:srgbClr val="FFFFFF"/>
          </a:solidFill>
          <a:ln/>
          <a:effectLst>
            <a:outerShdw sx="100000" sy="100000" kx="0" ky="0" algn="bl" rotWithShape="0" blurRad="101600" dist="38100" dir="2700000">
              <a:srgbClr val="000000">
                <a:alpha val="12000"/>
              </a:srgbClr>
            </a:outerShdw>
          </a:effectLst>
        </p:spPr>
      </p:sp>
      <p:sp>
        <p:nvSpPr>
          <p:cNvPr id="14" name="Text 12"/>
          <p:cNvSpPr/>
          <p:nvPr/>
        </p:nvSpPr>
        <p:spPr>
          <a:xfrm>
            <a:off x="822960" y="2880360"/>
            <a:ext cx="1645920" cy="36576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Map</a:t>
            </a:r>
            <a:endParaRPr lang="en-US" sz="1300" dirty="0"/>
          </a:p>
        </p:txBody>
      </p:sp>
      <p:sp>
        <p:nvSpPr>
          <p:cNvPr id="15" name="Text 13"/>
          <p:cNvSpPr/>
          <p:nvPr/>
        </p:nvSpPr>
        <p:spPr>
          <a:xfrm>
            <a:off x="2560320" y="2880360"/>
            <a:ext cx="5760720" cy="36576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60×30 hex grid, 8 country blocs</a:t>
            </a:r>
            <a:endParaRPr lang="en-US" sz="1300" dirty="0"/>
          </a:p>
        </p:txBody>
      </p:sp>
      <p:sp>
        <p:nvSpPr>
          <p:cNvPr id="16" name="Shape 14"/>
          <p:cNvSpPr/>
          <p:nvPr/>
        </p:nvSpPr>
        <p:spPr>
          <a:xfrm>
            <a:off x="640080" y="3383280"/>
            <a:ext cx="7863840" cy="457200"/>
          </a:xfrm>
          <a:prstGeom prst="roundRect">
            <a:avLst>
              <a:gd name="adj" fmla="val 16000"/>
            </a:avLst>
          </a:prstGeom>
          <a:solidFill>
            <a:srgbClr val="FFFFFF"/>
          </a:solidFill>
          <a:ln/>
          <a:effectLst>
            <a:outerShdw sx="100000" sy="100000" kx="0" ky="0" algn="bl" rotWithShape="0" blurRad="101600" dist="38100" dir="2700000">
              <a:srgbClr val="000000">
                <a:alpha val="12000"/>
              </a:srgbClr>
            </a:outerShdw>
          </a:effectLst>
        </p:spPr>
      </p:sp>
      <p:sp>
        <p:nvSpPr>
          <p:cNvPr id="17" name="Text 15"/>
          <p:cNvSpPr/>
          <p:nvPr/>
        </p:nvSpPr>
        <p:spPr>
          <a:xfrm>
            <a:off x="822960" y="3429000"/>
            <a:ext cx="1645920" cy="36576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Cycle Engine</a:t>
            </a:r>
            <a:endParaRPr lang="en-US" sz="1300" dirty="0"/>
          </a:p>
        </p:txBody>
      </p:sp>
      <p:sp>
        <p:nvSpPr>
          <p:cNvPr id="18" name="Text 16"/>
          <p:cNvSpPr/>
          <p:nvPr/>
        </p:nvSpPr>
        <p:spPr>
          <a:xfrm>
            <a:off x="2560320" y="3429000"/>
            <a:ext cx="5760720" cy="36576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14-step deterministic processing</a:t>
            </a:r>
            <a:endParaRPr lang="en-US" sz="1300" dirty="0"/>
          </a:p>
        </p:txBody>
      </p:sp>
      <p:sp>
        <p:nvSpPr>
          <p:cNvPr id="19" name="Shape 17"/>
          <p:cNvSpPr/>
          <p:nvPr/>
        </p:nvSpPr>
        <p:spPr>
          <a:xfrm>
            <a:off x="640080" y="3931920"/>
            <a:ext cx="7863840" cy="457200"/>
          </a:xfrm>
          <a:prstGeom prst="roundRect">
            <a:avLst>
              <a:gd name="adj" fmla="val 16000"/>
            </a:avLst>
          </a:prstGeom>
          <a:solidFill>
            <a:srgbClr val="FFFFFF"/>
          </a:solidFill>
          <a:ln/>
          <a:effectLst>
            <a:outerShdw sx="100000" sy="100000" kx="0" ky="0" algn="bl" rotWithShape="0" blurRad="101600" dist="38100" dir="2700000">
              <a:srgbClr val="000000">
                <a:alpha val="12000"/>
              </a:srgbClr>
            </a:outerShdw>
          </a:effectLst>
        </p:spPr>
      </p:sp>
      <p:sp>
        <p:nvSpPr>
          <p:cNvPr id="20" name="Text 18"/>
          <p:cNvSpPr/>
          <p:nvPr/>
        </p:nvSpPr>
        <p:spPr>
          <a:xfrm>
            <a:off x="822960" y="3977640"/>
            <a:ext cx="1645920" cy="365760"/>
          </a:xfrm>
          <a:prstGeom prst="rect">
            <a:avLst/>
          </a:prstGeom>
          <a:noFill/>
          <a:ln/>
        </p:spPr>
        <p:txBody>
          <a:bodyPr wrap="square" lIns="0" tIns="0" rIns="0" bIns="0" rtlCol="0" anchor="ctr"/>
          <a:lstStyle/>
          <a:p>
            <a:pPr indent="0" marL="0">
              <a:buNone/>
            </a:pPr>
            <a:r>
              <a:rPr lang="en-US" sz="1300" b="1" dirty="0">
                <a:solidFill>
                  <a:srgbClr val="1B4332"/>
                </a:solidFill>
                <a:latin typeface="Calibri" pitchFamily="34" charset="0"/>
                <a:ea typeface="Calibri" pitchFamily="34" charset="-122"/>
                <a:cs typeface="Calibri" pitchFamily="34" charset="-120"/>
              </a:rPr>
              <a:t>Bot AI</a:t>
            </a:r>
            <a:endParaRPr lang="en-US" sz="1300" dirty="0"/>
          </a:p>
        </p:txBody>
      </p:sp>
      <p:sp>
        <p:nvSpPr>
          <p:cNvPr id="21" name="Text 19"/>
          <p:cNvSpPr/>
          <p:nvPr/>
        </p:nvSpPr>
        <p:spPr>
          <a:xfrm>
            <a:off x="2560320" y="3977640"/>
            <a:ext cx="5760720" cy="36576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4 profiles: Fossil Maximiser, Green Pioneer, Pragmatic, Development First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25"/>
        </a:solidFill>
      </p:bgPr>
    </p:bg>
    <p:spTree>
      <p:nvGrpSpPr>
        <p:cNvPr id="1" name=""/>
        <p:cNvGrpSpPr/>
        <p:nvPr/>
      </p:nvGrpSpPr>
      <p:grpSpPr>
        <a:xfrm>
          <a:off x="0" y="0"/>
          <a:ext cx="0" cy="0"/>
          <a:chOff x="0" y="0"/>
          <a:chExt cx="0" cy="0"/>
        </a:xfrm>
      </p:grpSpPr>
      <p:sp>
        <p:nvSpPr>
          <p:cNvPr id="2" name="Text 0"/>
          <p:cNvSpPr/>
          <p:nvPr/>
        </p:nvSpPr>
        <p:spPr>
          <a:xfrm>
            <a:off x="731520" y="731520"/>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Live Demonstration</a:t>
            </a:r>
            <a:endParaRPr lang="en-US" sz="4000" dirty="0"/>
          </a:p>
        </p:txBody>
      </p:sp>
      <p:sp>
        <p:nvSpPr>
          <p:cNvPr id="3" name="Text 1"/>
          <p:cNvSpPr/>
          <p:nvPr/>
        </p:nvSpPr>
        <p:spPr>
          <a:xfrm>
            <a:off x="731520" y="1645920"/>
            <a:ext cx="7680960" cy="457200"/>
          </a:xfrm>
          <a:prstGeom prst="rect">
            <a:avLst/>
          </a:prstGeom>
          <a:noFill/>
          <a:ln/>
        </p:spPr>
        <p:txBody>
          <a:bodyPr wrap="square" lIns="0" tIns="0" rIns="0" bIns="0" rtlCol="0" anchor="ctr"/>
          <a:lstStyle/>
          <a:p>
            <a:pPr indent="0" marL="0">
              <a:buNone/>
            </a:pPr>
            <a:r>
              <a:rPr lang="en-US" sz="1800" dirty="0">
                <a:solidFill>
                  <a:srgbClr val="74C69D"/>
                </a:solidFill>
                <a:latin typeface="Calibri" pitchFamily="34" charset="0"/>
                <a:ea typeface="Calibri" pitchFamily="34" charset="-122"/>
                <a:cs typeface="Calibri" pitchFamily="34" charset="-120"/>
              </a:rPr>
              <a:t>5 minutes</a:t>
            </a:r>
            <a:endParaRPr lang="en-US" sz="1800" dirty="0"/>
          </a:p>
        </p:txBody>
      </p:sp>
      <p:sp>
        <p:nvSpPr>
          <p:cNvPr id="4" name="Text 2"/>
          <p:cNvSpPr/>
          <p:nvPr/>
        </p:nvSpPr>
        <p:spPr>
          <a:xfrm>
            <a:off x="731520" y="2286000"/>
            <a:ext cx="7680960" cy="2560320"/>
          </a:xfrm>
          <a:prstGeom prst="rect">
            <a:avLst/>
          </a:prstGeom>
          <a:noFill/>
          <a:ln/>
        </p:spPr>
        <p:txBody>
          <a:bodyPr wrap="square" lIns="0" tIns="0" rIns="0" bIns="0" rtlCol="0" anchor="ctr"/>
          <a:lstStyle/>
          <a:p>
            <a:pPr indent="0" marL="0">
              <a:lnSpc>
                <a:spcPct val="130000"/>
              </a:lnSpc>
              <a:buNone/>
            </a:pPr>
            <a:r>
              <a:rPr lang="en-US" sz="1600" dirty="0">
                <a:solidFill>
                  <a:srgbClr val="B0BEC5"/>
                </a:solidFill>
              </a:rPr>
              <a:t>1. Landing page &amp; game creation
</a:t>
            </a:r>
            <a:endParaRPr lang="en-US" sz="1600" dirty="0"/>
          </a:p>
          <a:p>
            <a:pPr indent="0" marL="0">
              <a:lnSpc>
                <a:spcPct val="130000"/>
              </a:lnSpc>
              <a:buNone/>
            </a:pPr>
            <a:r>
              <a:rPr lang="en-US" sz="1600" dirty="0">
                <a:solidFill>
                  <a:srgbClr val="B0BEC5"/>
                </a:solidFill>
              </a:rPr>
              <a:t>2. Hex map &amp; building placement
</a:t>
            </a:r>
            <a:endParaRPr lang="en-US" sz="1600" dirty="0"/>
          </a:p>
          <a:p>
            <a:pPr indent="0" marL="0">
              <a:lnSpc>
                <a:spcPct val="130000"/>
              </a:lnSpc>
              <a:buNone/>
            </a:pPr>
            <a:r>
              <a:rPr lang="en-US" sz="1600" dirty="0">
                <a:solidFill>
                  <a:srgbClr val="B0BEC5"/>
                </a:solidFill>
              </a:rPr>
              <a:t>3. Diplomacy &amp; trade panels
</a:t>
            </a:r>
            <a:endParaRPr lang="en-US" sz="1600" dirty="0"/>
          </a:p>
          <a:p>
            <a:pPr indent="0" marL="0">
              <a:lnSpc>
                <a:spcPct val="130000"/>
              </a:lnSpc>
              <a:buNone/>
            </a:pPr>
            <a:r>
              <a:rPr lang="en-US" sz="1600" dirty="0">
                <a:solidFill>
                  <a:srgbClr val="B0BEC5"/>
                </a:solidFill>
              </a:rPr>
              <a:t>4. Cycle advance &amp; summit resolution
</a:t>
            </a:r>
            <a:endParaRPr lang="en-US" sz="1600" dirty="0"/>
          </a:p>
          <a:p>
            <a:pPr indent="0" marL="0">
              <a:lnSpc>
                <a:spcPct val="130000"/>
              </a:lnSpc>
              <a:buNone/>
            </a:pPr>
            <a:r>
              <a:rPr lang="en-US" sz="1600" dirty="0">
                <a:solidFill>
                  <a:srgbClr val="74C69D"/>
                </a:solidFill>
              </a:rPr>
              <a:t>5. Comparison dashboard (Liefferink)</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D25"/>
        </a:solidFill>
      </p:bgPr>
    </p:bg>
    <p:spTree>
      <p:nvGrpSpPr>
        <p:cNvPr id="1" name=""/>
        <p:cNvGrpSpPr/>
        <p:nvPr/>
      </p:nvGrpSpPr>
      <p:grpSpPr>
        <a:xfrm>
          <a:off x="0" y="0"/>
          <a:ext cx="0" cy="0"/>
          <a:chOff x="0" y="0"/>
          <a:chExt cx="0" cy="0"/>
        </a:xfrm>
      </p:grpSpPr>
      <p:sp>
        <p:nvSpPr>
          <p:cNvPr id="2" name="Text 0"/>
          <p:cNvSpPr/>
          <p:nvPr/>
        </p:nvSpPr>
        <p:spPr>
          <a:xfrm>
            <a:off x="731520" y="1371600"/>
            <a:ext cx="7680960" cy="109728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Conclusion</a:t>
            </a:r>
            <a:endParaRPr lang="en-US" sz="4000" dirty="0"/>
          </a:p>
        </p:txBody>
      </p:sp>
      <p:sp>
        <p:nvSpPr>
          <p:cNvPr id="3" name="Text 1"/>
          <p:cNvSpPr/>
          <p:nvPr/>
        </p:nvSpPr>
        <p:spPr>
          <a:xfrm>
            <a:off x="731520" y="2560320"/>
            <a:ext cx="7680960" cy="1097280"/>
          </a:xfrm>
          <a:prstGeom prst="rect">
            <a:avLst/>
          </a:prstGeom>
          <a:noFill/>
          <a:ln/>
        </p:spPr>
        <p:txBody>
          <a:bodyPr wrap="square" lIns="0" tIns="0" rIns="0" bIns="0" rtlCol="0" anchor="ctr"/>
          <a:lstStyle/>
          <a:p>
            <a:pPr indent="0" marL="0">
              <a:lnSpc>
                <a:spcPct val="150000"/>
              </a:lnSpc>
              <a:buNone/>
            </a:pPr>
            <a:r>
              <a:rPr lang="en-US" sz="1800" dirty="0">
                <a:solidFill>
                  <a:srgbClr val="FFFFFF"/>
                </a:solidFill>
                <a:latin typeface="Calibri" pitchFamily="34" charset="0"/>
                <a:ea typeface="Calibri" pitchFamily="34" charset="-122"/>
                <a:cs typeface="Calibri" pitchFamily="34" charset="-120"/>
              </a:rPr>
              <a:t>The game does not simplify environmental politics —</a:t>
            </a:r>
            <a:endParaRPr lang="en-US" sz="1800" dirty="0"/>
          </a:p>
          <a:p>
            <a:pPr indent="0" marL="0">
              <a:lnSpc>
                <a:spcPct val="150000"/>
              </a:lnSpc>
              <a:buNone/>
            </a:pPr>
            <a:r>
              <a:rPr lang="en-US" sz="1800" dirty="0">
                <a:solidFill>
                  <a:srgbClr val="FFFFFF"/>
                </a:solidFill>
                <a:latin typeface="Calibri" pitchFamily="34" charset="0"/>
                <a:ea typeface="Calibri" pitchFamily="34" charset="-122"/>
                <a:cs typeface="Calibri" pitchFamily="34" charset="-120"/>
              </a:rPr>
              <a:t>it reproduces the structural conditions that make it difficult</a:t>
            </a:r>
            <a:endParaRPr lang="en-US" sz="1800" dirty="0"/>
          </a:p>
          <a:p>
            <a:pPr indent="0" marL="0">
              <a:lnSpc>
                <a:spcPct val="150000"/>
              </a:lnSpc>
              <a:buNone/>
            </a:pPr>
            <a:r>
              <a:rPr lang="en-US" sz="1800" dirty="0">
                <a:solidFill>
                  <a:srgbClr val="FFFFFF"/>
                </a:solidFill>
                <a:latin typeface="Calibri" pitchFamily="34" charset="0"/>
                <a:ea typeface="Calibri" pitchFamily="34" charset="-122"/>
                <a:cs typeface="Calibri" pitchFamily="34" charset="-120"/>
              </a:rPr>
              <a:t>and lets players experience the consequences.</a:t>
            </a:r>
            <a:endParaRPr lang="en-US" sz="1800" dirty="0"/>
          </a:p>
        </p:txBody>
      </p:sp>
      <p:sp>
        <p:nvSpPr>
          <p:cNvPr id="4" name="Text 2"/>
          <p:cNvSpPr/>
          <p:nvPr/>
        </p:nvSpPr>
        <p:spPr>
          <a:xfrm>
            <a:off x="731520" y="3840480"/>
            <a:ext cx="7680960" cy="731520"/>
          </a:xfrm>
          <a:prstGeom prst="rect">
            <a:avLst/>
          </a:prstGeom>
          <a:noFill/>
          <a:ln/>
        </p:spPr>
        <p:txBody>
          <a:bodyPr wrap="square" lIns="0" tIns="0" rIns="0" bIns="0" rtlCol="0" anchor="ctr"/>
          <a:lstStyle/>
          <a:p>
            <a:pPr indent="0" marL="0">
              <a:lnSpc>
                <a:spcPct val="150000"/>
              </a:lnSpc>
              <a:buNone/>
            </a:pPr>
            <a:r>
              <a:rPr lang="en-US" sz="1600" i="1" dirty="0">
                <a:solidFill>
                  <a:srgbClr val="74C69D"/>
                </a:solidFill>
                <a:latin typeface="Calibri" pitchFamily="34" charset="0"/>
                <a:ea typeface="Calibri" pitchFamily="34" charset="-122"/>
                <a:cs typeface="Calibri" pitchFamily="34" charset="-120"/>
              </a:rPr>
              <a:t>Playing well requires understanding the theories.</a:t>
            </a:r>
            <a:endParaRPr lang="en-US" sz="1600" dirty="0"/>
          </a:p>
          <a:p>
            <a:pPr indent="0" marL="0">
              <a:lnSpc>
                <a:spcPct val="150000"/>
              </a:lnSpc>
              <a:buNone/>
            </a:pPr>
            <a:r>
              <a:rPr lang="en-US" sz="1600" i="1" dirty="0">
                <a:solidFill>
                  <a:srgbClr val="74C69D"/>
                </a:solidFill>
                <a:latin typeface="Calibri" pitchFamily="34" charset="0"/>
                <a:ea typeface="Calibri" pitchFamily="34" charset="-122"/>
                <a:cs typeface="Calibri" pitchFamily="34" charset="-120"/>
              </a:rPr>
              <a:t>Understanding the theories improves gameplay.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p:spPr>
      </p:sp>
      <p:sp>
        <p:nvSpPr>
          <p:cNvPr id="3" name="Text 1"/>
          <p:cNvSpPr/>
          <p:nvPr/>
        </p:nvSpPr>
        <p:spPr>
          <a:xfrm>
            <a:off x="640080" y="91440"/>
            <a:ext cx="786384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Key References</a:t>
            </a:r>
            <a:endParaRPr lang="en-US" sz="2400" dirty="0"/>
          </a:p>
        </p:txBody>
      </p:sp>
      <p:sp>
        <p:nvSpPr>
          <p:cNvPr id="4" name="Text 2"/>
          <p:cNvSpPr/>
          <p:nvPr/>
        </p:nvSpPr>
        <p:spPr>
          <a:xfrm>
            <a:off x="822960" y="1051560"/>
            <a:ext cx="7498080" cy="27432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Aklin &amp; Mildenberger (2020) — Distributive conflict in climate politics</a:t>
            </a:r>
            <a:endParaRPr lang="en-US" sz="1100" dirty="0"/>
          </a:p>
        </p:txBody>
      </p:sp>
      <p:sp>
        <p:nvSpPr>
          <p:cNvPr id="5" name="Text 3"/>
          <p:cNvSpPr/>
          <p:nvPr/>
        </p:nvSpPr>
        <p:spPr>
          <a:xfrm>
            <a:off x="822960" y="1353312"/>
            <a:ext cx="7498080" cy="274320"/>
          </a:xfrm>
          <a:prstGeom prst="rect">
            <a:avLst/>
          </a:prstGeom>
          <a:noFill/>
          <a:ln/>
        </p:spPr>
        <p:txBody>
          <a:bodyPr wrap="square" lIns="0" tIns="0" rIns="0" bIns="0" rtlCol="0" anchor="ctr"/>
          <a:lstStyle/>
          <a:p>
            <a:pPr indent="0" marL="0">
              <a:buNone/>
            </a:pPr>
            <a:r>
              <a:rPr lang="en-US" sz="1100" dirty="0">
                <a:solidFill>
                  <a:srgbClr val="2D6A4F"/>
                </a:solidFill>
                <a:latin typeface="Calibri" pitchFamily="34" charset="0"/>
                <a:ea typeface="Calibri" pitchFamily="34" charset="-122"/>
                <a:cs typeface="Calibri" pitchFamily="34" charset="-120"/>
              </a:rPr>
              <a:t>Freire-González (2018) — Double dividend CGE meta-analysis (69 simulations)</a:t>
            </a:r>
            <a:endParaRPr lang="en-US" sz="1100" dirty="0"/>
          </a:p>
        </p:txBody>
      </p:sp>
      <p:sp>
        <p:nvSpPr>
          <p:cNvPr id="6" name="Text 4"/>
          <p:cNvSpPr/>
          <p:nvPr/>
        </p:nvSpPr>
        <p:spPr>
          <a:xfrm>
            <a:off x="822960" y="1655064"/>
            <a:ext cx="7498080" cy="27432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Goulder (1995) — Environmental taxation and the double dividend</a:t>
            </a:r>
            <a:endParaRPr lang="en-US" sz="1100" dirty="0"/>
          </a:p>
        </p:txBody>
      </p:sp>
      <p:sp>
        <p:nvSpPr>
          <p:cNvPr id="7" name="Text 5"/>
          <p:cNvSpPr/>
          <p:nvPr/>
        </p:nvSpPr>
        <p:spPr>
          <a:xfrm>
            <a:off x="822960" y="1956816"/>
            <a:ext cx="7498080" cy="274320"/>
          </a:xfrm>
          <a:prstGeom prst="rect">
            <a:avLst/>
          </a:prstGeom>
          <a:noFill/>
          <a:ln/>
        </p:spPr>
        <p:txBody>
          <a:bodyPr wrap="square" lIns="0" tIns="0" rIns="0" bIns="0" rtlCol="0" anchor="ctr"/>
          <a:lstStyle/>
          <a:p>
            <a:pPr indent="0" marL="0">
              <a:buNone/>
            </a:pPr>
            <a:r>
              <a:rPr lang="en-US" sz="1100" dirty="0">
                <a:solidFill>
                  <a:srgbClr val="2D6A4F"/>
                </a:solidFill>
                <a:latin typeface="Calibri" pitchFamily="34" charset="0"/>
                <a:ea typeface="Calibri" pitchFamily="34" charset="-122"/>
                <a:cs typeface="Calibri" pitchFamily="34" charset="-120"/>
              </a:rPr>
              <a:t>Hardin (1968) — Tragedy of the commons</a:t>
            </a:r>
            <a:endParaRPr lang="en-US" sz="1100" dirty="0"/>
          </a:p>
        </p:txBody>
      </p:sp>
      <p:sp>
        <p:nvSpPr>
          <p:cNvPr id="8" name="Text 6"/>
          <p:cNvSpPr/>
          <p:nvPr/>
        </p:nvSpPr>
        <p:spPr>
          <a:xfrm>
            <a:off x="822960" y="2258568"/>
            <a:ext cx="7498080" cy="27432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Liefferink et al. (2009) — Leaders and laggards in environmental policy</a:t>
            </a:r>
            <a:endParaRPr lang="en-US" sz="1100" dirty="0"/>
          </a:p>
        </p:txBody>
      </p:sp>
      <p:sp>
        <p:nvSpPr>
          <p:cNvPr id="9" name="Text 7"/>
          <p:cNvSpPr/>
          <p:nvPr/>
        </p:nvSpPr>
        <p:spPr>
          <a:xfrm>
            <a:off x="822960" y="2560320"/>
            <a:ext cx="7498080" cy="274320"/>
          </a:xfrm>
          <a:prstGeom prst="rect">
            <a:avLst/>
          </a:prstGeom>
          <a:noFill/>
          <a:ln/>
        </p:spPr>
        <p:txBody>
          <a:bodyPr wrap="square" lIns="0" tIns="0" rIns="0" bIns="0" rtlCol="0" anchor="ctr"/>
          <a:lstStyle/>
          <a:p>
            <a:pPr indent="0" marL="0">
              <a:buNone/>
            </a:pPr>
            <a:r>
              <a:rPr lang="en-US" sz="1100" dirty="0">
                <a:solidFill>
                  <a:srgbClr val="2D6A4F"/>
                </a:solidFill>
                <a:latin typeface="Calibri" pitchFamily="34" charset="0"/>
                <a:ea typeface="Calibri" pitchFamily="34" charset="-122"/>
                <a:cs typeface="Calibri" pitchFamily="34" charset="-120"/>
              </a:rPr>
              <a:t>Nordhaus (2018) — DICE model, Nobel Prize lecture</a:t>
            </a:r>
            <a:endParaRPr lang="en-US" sz="1100" dirty="0"/>
          </a:p>
        </p:txBody>
      </p:sp>
      <p:sp>
        <p:nvSpPr>
          <p:cNvPr id="10" name="Text 8"/>
          <p:cNvSpPr/>
          <p:nvPr/>
        </p:nvSpPr>
        <p:spPr>
          <a:xfrm>
            <a:off x="822960" y="2862072"/>
            <a:ext cx="7498080" cy="27432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Olson (1965) — Logic of collective action, free-rider problem</a:t>
            </a:r>
            <a:endParaRPr lang="en-US" sz="1100" dirty="0"/>
          </a:p>
        </p:txBody>
      </p:sp>
      <p:sp>
        <p:nvSpPr>
          <p:cNvPr id="11" name="Text 9"/>
          <p:cNvSpPr/>
          <p:nvPr/>
        </p:nvSpPr>
        <p:spPr>
          <a:xfrm>
            <a:off x="822960" y="3163824"/>
            <a:ext cx="7498080" cy="274320"/>
          </a:xfrm>
          <a:prstGeom prst="rect">
            <a:avLst/>
          </a:prstGeom>
          <a:noFill/>
          <a:ln/>
        </p:spPr>
        <p:txBody>
          <a:bodyPr wrap="square" lIns="0" tIns="0" rIns="0" bIns="0" rtlCol="0" anchor="ctr"/>
          <a:lstStyle/>
          <a:p>
            <a:pPr indent="0" marL="0">
              <a:buNone/>
            </a:pPr>
            <a:r>
              <a:rPr lang="en-US" sz="1100" dirty="0">
                <a:solidFill>
                  <a:srgbClr val="2D6A4F"/>
                </a:solidFill>
                <a:latin typeface="Calibri" pitchFamily="34" charset="0"/>
                <a:ea typeface="Calibri" pitchFamily="34" charset="-122"/>
                <a:cs typeface="Calibri" pitchFamily="34" charset="-120"/>
              </a:rPr>
              <a:t>Ostrom (1990, 2010) — Polycentric governance</a:t>
            </a:r>
            <a:endParaRPr lang="en-US" sz="1100" dirty="0"/>
          </a:p>
        </p:txBody>
      </p:sp>
      <p:sp>
        <p:nvSpPr>
          <p:cNvPr id="12" name="Text 10"/>
          <p:cNvSpPr/>
          <p:nvPr/>
        </p:nvSpPr>
        <p:spPr>
          <a:xfrm>
            <a:off x="822960" y="3465576"/>
            <a:ext cx="7498080" cy="27432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Putnam (1988) — Diplomacy and domestic politics</a:t>
            </a:r>
            <a:endParaRPr lang="en-US" sz="1100" dirty="0"/>
          </a:p>
        </p:txBody>
      </p:sp>
      <p:sp>
        <p:nvSpPr>
          <p:cNvPr id="13" name="Text 11"/>
          <p:cNvSpPr/>
          <p:nvPr/>
        </p:nvSpPr>
        <p:spPr>
          <a:xfrm>
            <a:off x="822960" y="3767328"/>
            <a:ext cx="7498080" cy="274320"/>
          </a:xfrm>
          <a:prstGeom prst="rect">
            <a:avLst/>
          </a:prstGeom>
          <a:noFill/>
          <a:ln/>
        </p:spPr>
        <p:txBody>
          <a:bodyPr wrap="square" lIns="0" tIns="0" rIns="0" bIns="0" rtlCol="0" anchor="ctr"/>
          <a:lstStyle/>
          <a:p>
            <a:pPr indent="0" marL="0">
              <a:buNone/>
            </a:pPr>
            <a:r>
              <a:rPr lang="en-US" sz="1100" dirty="0">
                <a:solidFill>
                  <a:srgbClr val="2D6A4F"/>
                </a:solidFill>
                <a:latin typeface="Calibri" pitchFamily="34" charset="0"/>
                <a:ea typeface="Calibri" pitchFamily="34" charset="-122"/>
                <a:cs typeface="Calibri" pitchFamily="34" charset="-120"/>
              </a:rPr>
              <a:t>Raworth (2017) — Doughnut Economics</a:t>
            </a:r>
            <a:endParaRPr lang="en-US" sz="1100" dirty="0"/>
          </a:p>
        </p:txBody>
      </p:sp>
      <p:sp>
        <p:nvSpPr>
          <p:cNvPr id="14" name="Text 12"/>
          <p:cNvSpPr/>
          <p:nvPr/>
        </p:nvSpPr>
        <p:spPr>
          <a:xfrm>
            <a:off x="822960" y="4069080"/>
            <a:ext cx="7498080" cy="27432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Richardson et al. (2023) — 6 of 9 planetary boundaries crossed</a:t>
            </a:r>
            <a:endParaRPr lang="en-US" sz="1100" dirty="0"/>
          </a:p>
        </p:txBody>
      </p:sp>
      <p:sp>
        <p:nvSpPr>
          <p:cNvPr id="15" name="Text 13"/>
          <p:cNvSpPr/>
          <p:nvPr/>
        </p:nvSpPr>
        <p:spPr>
          <a:xfrm>
            <a:off x="822960" y="4370832"/>
            <a:ext cx="7498080" cy="274320"/>
          </a:xfrm>
          <a:prstGeom prst="rect">
            <a:avLst/>
          </a:prstGeom>
          <a:noFill/>
          <a:ln/>
        </p:spPr>
        <p:txBody>
          <a:bodyPr wrap="square" lIns="0" tIns="0" rIns="0" bIns="0" rtlCol="0" anchor="ctr"/>
          <a:lstStyle/>
          <a:p>
            <a:pPr indent="0" marL="0">
              <a:buNone/>
            </a:pPr>
            <a:r>
              <a:rPr lang="en-US" sz="1100" dirty="0">
                <a:solidFill>
                  <a:srgbClr val="2D6A4F"/>
                </a:solidFill>
                <a:latin typeface="Calibri" pitchFamily="34" charset="0"/>
                <a:ea typeface="Calibri" pitchFamily="34" charset="-122"/>
                <a:cs typeface="Calibri" pitchFamily="34" charset="-120"/>
              </a:rPr>
              <a:t>Rockström et al. (2009) — Safe operating space for humanity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Diplomacy: Environmental Politics Simulation</dc:title>
  <dc:subject>PptxGenJS Presentation</dc:subject>
  <dc:creator>Raj</dc:creator>
  <cp:lastModifiedBy>Raj</cp:lastModifiedBy>
  <cp:revision>1</cp:revision>
  <dcterms:created xsi:type="dcterms:W3CDTF">2026-07-07T20:13:43Z</dcterms:created>
  <dcterms:modified xsi:type="dcterms:W3CDTF">2026-07-07T20:13:43Z</dcterms:modified>
</cp:coreProperties>
</file>